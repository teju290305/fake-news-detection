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notesSlides/notesSlide1.xml" ContentType="application/vnd.openxmlformats-officedocument.presentationml.notesSlide+xml"/>
  <Override PartName="/ppt/tags/tag5.xml" ContentType="application/vnd.openxmlformats-officedocument.presentationml.tags+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 id="2147483652" r:id="rId2"/>
  </p:sldMasterIdLst>
  <p:notesMasterIdLst>
    <p:notesMasterId r:id="rId16"/>
  </p:notesMasterIdLst>
  <p:sldIdLst>
    <p:sldId id="256" r:id="rId3"/>
    <p:sldId id="571" r:id="rId4"/>
    <p:sldId id="572" r:id="rId5"/>
    <p:sldId id="573" r:id="rId6"/>
    <p:sldId id="574" r:id="rId7"/>
    <p:sldId id="575" r:id="rId8"/>
    <p:sldId id="576" r:id="rId9"/>
    <p:sldId id="580" r:id="rId10"/>
    <p:sldId id="581" r:id="rId11"/>
    <p:sldId id="577" r:id="rId12"/>
    <p:sldId id="579" r:id="rId13"/>
    <p:sldId id="578" r:id="rId14"/>
    <p:sldId id="536" r:id="rId15"/>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72" userDrawn="1">
          <p15:clr>
            <a:srgbClr val="A4A3A4"/>
          </p15:clr>
        </p15:guide>
        <p15:guide id="2" pos="312" userDrawn="1">
          <p15:clr>
            <a:srgbClr val="A4A3A4"/>
          </p15:clr>
        </p15:guide>
        <p15:guide id="3" orient="horz" pos="912"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4B9636B-3D94-EB3D-7CF5-3935240F8C9F}" name="Ramar Bose" initials="RB" userId="S::ramar@edunetfoundation.org::ae727035-80f4-46a2-9b41-59f778a1b49a" providerId="AD"/>
  <p188:author id="{D0A8B7BB-36D1-777B-64C8-9A30C894A727}" name="Rashmi Mishra" initials="RM" userId="S::rmishra@edunetfoundation.org::6469e6c3-66fa-4f4f-9c10-a71ac4161bf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A751"/>
    <a:srgbClr val="263570"/>
    <a:srgbClr val="4A9DE2"/>
    <a:srgbClr val="88BFEC"/>
    <a:srgbClr val="F9B1B1"/>
    <a:srgbClr val="B2DE82"/>
    <a:srgbClr val="F57373"/>
    <a:srgbClr val="F03434"/>
    <a:srgbClr val="BC7D00"/>
    <a:srgbClr val="FFBC3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A56652-BD41-4BDA-A07E-B669D120BC33}" v="1" dt="2026-02-22T09:53:18.22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73818" autoAdjust="0"/>
  </p:normalViewPr>
  <p:slideViewPr>
    <p:cSldViewPr snapToGrid="0">
      <p:cViewPr>
        <p:scale>
          <a:sx n="75" d="100"/>
          <a:sy n="75" d="100"/>
        </p:scale>
        <p:origin x="946" y="216"/>
      </p:cViewPr>
      <p:guideLst>
        <p:guide orient="horz" pos="672"/>
        <p:guide pos="312"/>
        <p:guide orient="horz" pos="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microsoft.com/office/2018/10/relationships/authors" Target="authors.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ejaswini lende" userId="0ca1d1df10813022" providerId="LiveId" clId="{BD87D03B-74BE-4214-8A51-A31B3EE35914}"/>
    <pc:docChg chg="modSld">
      <pc:chgData name="tejaswini lende" userId="0ca1d1df10813022" providerId="LiveId" clId="{BD87D03B-74BE-4214-8A51-A31B3EE35914}" dt="2026-02-22T09:53:18.226" v="7"/>
      <pc:docMkLst>
        <pc:docMk/>
      </pc:docMkLst>
      <pc:sldChg chg="modSp mod">
        <pc:chgData name="tejaswini lende" userId="0ca1d1df10813022" providerId="LiveId" clId="{BD87D03B-74BE-4214-8A51-A31B3EE35914}" dt="2026-02-22T09:47:13.887" v="2" actId="14100"/>
        <pc:sldMkLst>
          <pc:docMk/>
          <pc:sldMk cId="2310333463" sldId="256"/>
        </pc:sldMkLst>
        <pc:picChg chg="mod">
          <ac:chgData name="tejaswini lende" userId="0ca1d1df10813022" providerId="LiveId" clId="{BD87D03B-74BE-4214-8A51-A31B3EE35914}" dt="2026-02-22T09:47:13.887" v="2" actId="14100"/>
          <ac:picMkLst>
            <pc:docMk/>
            <pc:sldMk cId="2310333463" sldId="256"/>
            <ac:picMk id="6" creationId="{7F1AACBF-005C-C582-5718-05186E0F1D6E}"/>
          </ac:picMkLst>
        </pc:picChg>
      </pc:sldChg>
      <pc:sldChg chg="modSp mod">
        <pc:chgData name="tejaswini lende" userId="0ca1d1df10813022" providerId="LiveId" clId="{BD87D03B-74BE-4214-8A51-A31B3EE35914}" dt="2026-02-22T09:53:18.226" v="7"/>
        <pc:sldMkLst>
          <pc:docMk/>
          <pc:sldMk cId="1691700673" sldId="578"/>
        </pc:sldMkLst>
        <pc:spChg chg="mod">
          <ac:chgData name="tejaswini lende" userId="0ca1d1df10813022" providerId="LiveId" clId="{BD87D03B-74BE-4214-8A51-A31B3EE35914}" dt="2026-02-22T09:53:18.226" v="7"/>
          <ac:spMkLst>
            <pc:docMk/>
            <pc:sldMk cId="1691700673" sldId="578"/>
            <ac:spMk id="3" creationId="{5E6198D1-2392-A218-1A4C-10F40FCB825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699836-02B7-459A-AF64-A000817D576C}" type="datetimeFigureOut">
              <a:rPr lang="en-IN" smtClean="0"/>
              <a:t>22-02-2026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3065E4E-ABE4-4C79-8716-B93932D5FBD3}" type="slidenum">
              <a:rPr lang="en-IN" smtClean="0"/>
              <a:t>‹#›</a:t>
            </a:fld>
            <a:endParaRPr lang="en-IN"/>
          </a:p>
        </p:txBody>
      </p:sp>
    </p:spTree>
    <p:extLst>
      <p:ext uri="{BB962C8B-B14F-4D97-AF65-F5344CB8AC3E}">
        <p14:creationId xmlns:p14="http://schemas.microsoft.com/office/powerpoint/2010/main" val="1941331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3065E4E-ABE4-4C79-8716-B93932D5FBD3}" type="slidenum">
              <a:rPr lang="en-IN" smtClean="0"/>
              <a:t>1</a:t>
            </a:fld>
            <a:endParaRPr lang="en-IN"/>
          </a:p>
        </p:txBody>
      </p:sp>
    </p:spTree>
    <p:extLst>
      <p:ext uri="{BB962C8B-B14F-4D97-AF65-F5344CB8AC3E}">
        <p14:creationId xmlns:p14="http://schemas.microsoft.com/office/powerpoint/2010/main" val="28582663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D88B07-5A8B-12D3-48D5-B8315D13CD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7B6700-05A0-7411-109E-A374569B63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88D759-B238-4D1C-A179-63DF885F62A2}"/>
              </a:ext>
            </a:extLst>
          </p:cNvPr>
          <p:cNvSpPr>
            <a:spLocks noGrp="1"/>
          </p:cNvSpPr>
          <p:nvPr>
            <p:ph type="body" idx="1"/>
          </p:nvPr>
        </p:nvSpPr>
        <p:spPr/>
        <p:txBody>
          <a:bodyPr/>
          <a:lstStyle/>
          <a:p>
            <a:endParaRPr lang="en-IN">
              <a:cs typeface="Calibri"/>
            </a:endParaRPr>
          </a:p>
        </p:txBody>
      </p:sp>
      <p:sp>
        <p:nvSpPr>
          <p:cNvPr id="4" name="Slide Number Placeholder 3">
            <a:extLst>
              <a:ext uri="{FF2B5EF4-FFF2-40B4-BE49-F238E27FC236}">
                <a16:creationId xmlns:a16="http://schemas.microsoft.com/office/drawing/2014/main" id="{74C31F17-191B-CFE4-28A8-DF229B949339}"/>
              </a:ext>
            </a:extLst>
          </p:cNvPr>
          <p:cNvSpPr>
            <a:spLocks noGrp="1"/>
          </p:cNvSpPr>
          <p:nvPr>
            <p:ph type="sldNum" sz="quarter" idx="5"/>
          </p:nvPr>
        </p:nvSpPr>
        <p:spPr/>
        <p:txBody>
          <a:bodyPr/>
          <a:lstStyle/>
          <a:p>
            <a:fld id="{F3065E4E-ABE4-4C79-8716-B93932D5FBD3}" type="slidenum">
              <a:rPr lang="en-IN" smtClean="0"/>
              <a:t>13</a:t>
            </a:fld>
            <a:endParaRPr lang="en-IN"/>
          </a:p>
        </p:txBody>
      </p:sp>
    </p:spTree>
    <p:extLst>
      <p:ext uri="{BB962C8B-B14F-4D97-AF65-F5344CB8AC3E}">
        <p14:creationId xmlns:p14="http://schemas.microsoft.com/office/powerpoint/2010/main" val="207685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0626846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690970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54273-D1B2-B5DA-BF7E-9FF169DF6E6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0EE723-48AC-C184-D51D-DB184D9E4A1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5A217C-58BE-CEDC-FE42-FFECCA1613A4}"/>
              </a:ext>
            </a:extLst>
          </p:cNvPr>
          <p:cNvSpPr>
            <a:spLocks noGrp="1"/>
          </p:cNvSpPr>
          <p:nvPr>
            <p:ph type="dt" sz="half" idx="10"/>
          </p:nvPr>
        </p:nvSpPr>
        <p:spPr/>
        <p:txBody>
          <a:bodyPr/>
          <a:lstStyle/>
          <a:p>
            <a:fld id="{CB3FA99E-0146-4BD9-9E30-4EB71F3A4207}" type="datetimeFigureOut">
              <a:rPr lang="en-IN" smtClean="0"/>
              <a:t>22-02-2026</a:t>
            </a:fld>
            <a:endParaRPr lang="en-IN"/>
          </a:p>
        </p:txBody>
      </p:sp>
      <p:sp>
        <p:nvSpPr>
          <p:cNvPr id="5" name="Footer Placeholder 4">
            <a:extLst>
              <a:ext uri="{FF2B5EF4-FFF2-40B4-BE49-F238E27FC236}">
                <a16:creationId xmlns:a16="http://schemas.microsoft.com/office/drawing/2014/main" id="{72F67DFB-4595-5610-E73D-EA112439D5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AB5188B-8994-FE2D-E924-64F2FB541B2D}"/>
              </a:ext>
            </a:extLst>
          </p:cNvPr>
          <p:cNvSpPr>
            <a:spLocks noGrp="1"/>
          </p:cNvSpPr>
          <p:nvPr>
            <p:ph type="sldNum" sz="quarter" idx="12"/>
          </p:nvPr>
        </p:nvSpPr>
        <p:spPr/>
        <p:txBody>
          <a:bodyPr/>
          <a:lstStyle/>
          <a:p>
            <a:fld id="{34381918-31C6-44C6-A382-2FA557A3F6B9}" type="slidenum">
              <a:rPr lang="en-IN" smtClean="0"/>
              <a:t>‹#›</a:t>
            </a:fld>
            <a:endParaRPr lang="en-IN"/>
          </a:p>
        </p:txBody>
      </p:sp>
    </p:spTree>
    <p:extLst>
      <p:ext uri="{BB962C8B-B14F-4D97-AF65-F5344CB8AC3E}">
        <p14:creationId xmlns:p14="http://schemas.microsoft.com/office/powerpoint/2010/main" val="37509285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2/22/2026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575929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GB" smtClean="0"/>
              <a:t>22/02/2026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288563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71073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229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898709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body" userDrawn="1">
  <p:cSld name="1_Title and body">
    <p:spTree>
      <p:nvGrpSpPr>
        <p:cNvPr id="1" name="Shape 13"/>
        <p:cNvGrpSpPr/>
        <p:nvPr/>
      </p:nvGrpSpPr>
      <p:grpSpPr>
        <a:xfrm>
          <a:off x="0" y="0"/>
          <a:ext cx="0" cy="0"/>
          <a:chOff x="0" y="0"/>
          <a:chExt cx="0" cy="0"/>
        </a:xfrm>
      </p:grpSpPr>
    </p:spTree>
    <p:extLst>
      <p:ext uri="{BB962C8B-B14F-4D97-AF65-F5344CB8AC3E}">
        <p14:creationId xmlns:p14="http://schemas.microsoft.com/office/powerpoint/2010/main" val="979747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ags" Target="../tags/tag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slideLayout" Target="../slideLayouts/slideLayout7.xml"/><Relationship Id="rId1" Type="http://schemas.openxmlformats.org/officeDocument/2006/relationships/slideLayout" Target="../slideLayouts/slideLayout6.xml"/><Relationship Id="rId5" Type="http://schemas.openxmlformats.org/officeDocument/2006/relationships/theme" Target="../theme/theme2.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BE36FD2-5CF9-42B6-267C-75A9A8826A1C}"/>
              </a:ext>
            </a:extLst>
          </p:cNvPr>
          <p:cNvSpPr/>
          <p:nvPr userDrawn="1"/>
        </p:nvSpPr>
        <p:spPr>
          <a:xfrm>
            <a:off x="0" y="0"/>
            <a:ext cx="10374086" cy="6604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Rectangle 21">
            <a:extLst>
              <a:ext uri="{FF2B5EF4-FFF2-40B4-BE49-F238E27FC236}">
                <a16:creationId xmlns:a16="http://schemas.microsoft.com/office/drawing/2014/main" id="{85F6CF07-40A9-24A4-F336-0BDA8D93267D}"/>
              </a:ext>
            </a:extLst>
          </p:cNvPr>
          <p:cNvSpPr/>
          <p:nvPr userDrawn="1"/>
        </p:nvSpPr>
        <p:spPr>
          <a:xfrm>
            <a:off x="0" y="6692900"/>
            <a:ext cx="12192000" cy="1651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28" name="Picture 4" descr="A black background with grey text&#10;&#10;AI-generated content may be incorrect.">
            <a:extLst>
              <a:ext uri="{FF2B5EF4-FFF2-40B4-BE49-F238E27FC236}">
                <a16:creationId xmlns:a16="http://schemas.microsoft.com/office/drawing/2014/main" id="{66C649D9-DD8B-5B7D-F409-A3797AEF3D36}"/>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465905" y="91005"/>
            <a:ext cx="1466678" cy="478389"/>
          </a:xfrm>
          <a:prstGeom prst="rect">
            <a:avLst/>
          </a:prstGeom>
          <a:noFill/>
          <a:extLst>
            <a:ext uri="{909E8E84-426E-40DD-AFC4-6F175D3DCCD1}">
              <a14:hiddenFill xmlns:a14="http://schemas.microsoft.com/office/drawing/2010/main">
                <a:solidFill>
                  <a:srgbClr val="FFFFFF"/>
                </a:solidFill>
              </a14:hiddenFill>
            </a:ext>
          </a:extLst>
        </p:spPr>
      </p:pic>
    </p:spTree>
    <p:custDataLst>
      <p:tags r:id="rId7"/>
    </p:custDataLst>
    <p:extLst>
      <p:ext uri="{BB962C8B-B14F-4D97-AF65-F5344CB8AC3E}">
        <p14:creationId xmlns:p14="http://schemas.microsoft.com/office/powerpoint/2010/main" val="3478975145"/>
      </p:ext>
    </p:extLst>
  </p:cSld>
  <p:clrMap bg1="lt1" tx1="dk1" bg2="lt2" tx2="dk2" accent1="accent1" accent2="accent2" accent3="accent3" accent4="accent4" accent5="accent5" accent6="accent6" hlink="hlink" folHlink="folHlink"/>
  <p:sldLayoutIdLst>
    <p:sldLayoutId id="2147483651" r:id="rId1"/>
    <p:sldLayoutId id="2147483665" r:id="rId2"/>
    <p:sldLayoutId id="2147483666" r:id="rId3"/>
    <p:sldLayoutId id="2147483667" r:id="rId4"/>
    <p:sldLayoutId id="2147483668" r:id="rId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179268"/>
      </p:ext>
    </p:extLst>
  </p:cSld>
  <p:clrMap bg1="lt1" tx1="dk1" bg2="lt2" tx2="dk2" accent1="accent1" accent2="accent2" accent3="accent3" accent4="accent4" accent5="accent5" accent6="accent6" hlink="hlink" folHlink="folHlink"/>
  <p:sldLayoutIdLst>
    <p:sldLayoutId id="2147483653" r:id="rId1"/>
    <p:sldLayoutId id="2147483662" r:id="rId2"/>
    <p:sldLayoutId id="2147483663" r:id="rId3"/>
    <p:sldLayoutId id="2147483664" r:id="rId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6.xml"/><Relationship Id="rId1" Type="http://schemas.openxmlformats.org/officeDocument/2006/relationships/tags" Target="../tags/tag4.xml"/><Relationship Id="rId5" Type="http://schemas.openxmlformats.org/officeDocument/2006/relationships/image" Target="../media/image2.jpe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40A069D-B6C2-7B0A-6719-9C65A27E0952}"/>
              </a:ext>
            </a:extLst>
          </p:cNvPr>
          <p:cNvSpPr/>
          <p:nvPr/>
        </p:nvSpPr>
        <p:spPr>
          <a:xfrm>
            <a:off x="-32657" y="3429000"/>
            <a:ext cx="424543" cy="3429000"/>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55C78EFA-3B33-383D-31A6-F48EC0533950}"/>
              </a:ext>
            </a:extLst>
          </p:cNvPr>
          <p:cNvSpPr/>
          <p:nvPr/>
        </p:nvSpPr>
        <p:spPr>
          <a:xfrm>
            <a:off x="0" y="0"/>
            <a:ext cx="228600" cy="3429000"/>
          </a:xfrm>
          <a:prstGeom prst="rect">
            <a:avLst/>
          </a:prstGeom>
          <a:solidFill>
            <a:srgbClr val="26357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97DD7732-9B23-40F7-1FF7-FD50BDC193D8}"/>
              </a:ext>
            </a:extLst>
          </p:cNvPr>
          <p:cNvSpPr/>
          <p:nvPr/>
        </p:nvSpPr>
        <p:spPr>
          <a:xfrm>
            <a:off x="7913913" y="0"/>
            <a:ext cx="4985657" cy="3156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D2DA2A85-6D5C-2987-0FF8-3AF240456D3B}"/>
              </a:ext>
            </a:extLst>
          </p:cNvPr>
          <p:cNvSpPr/>
          <p:nvPr/>
        </p:nvSpPr>
        <p:spPr>
          <a:xfrm>
            <a:off x="-32657" y="6509659"/>
            <a:ext cx="12888684" cy="348341"/>
          </a:xfrm>
          <a:prstGeom prst="rect">
            <a:avLst/>
          </a:prstGeom>
          <a:solidFill>
            <a:srgbClr val="34A75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0" name="Picture 2" descr="A black background with grey text&#10;&#10;AI-generated content may be incorrect.">
            <a:extLst>
              <a:ext uri="{FF2B5EF4-FFF2-40B4-BE49-F238E27FC236}">
                <a16:creationId xmlns:a16="http://schemas.microsoft.com/office/drawing/2014/main" id="{4D362339-2CD4-BEA9-8BCD-81A300A3C9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7304" y="316620"/>
            <a:ext cx="1725854" cy="562925"/>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1">
            <a:extLst>
              <a:ext uri="{FF2B5EF4-FFF2-40B4-BE49-F238E27FC236}">
                <a16:creationId xmlns:a16="http://schemas.microsoft.com/office/drawing/2014/main" id="{91DC6ABD-215C-4EA8-A483-CEF5B99AB3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bwMode="white">
          <a:xfrm>
            <a:off x="0" y="0"/>
            <a:ext cx="12191999" cy="68573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Title 1">
            <a:extLst>
              <a:ext uri="{FF2B5EF4-FFF2-40B4-BE49-F238E27FC236}">
                <a16:creationId xmlns:a16="http://schemas.microsoft.com/office/drawing/2014/main" id="{0F837936-4230-3A98-A2A1-6E77E027B36D}"/>
              </a:ext>
            </a:extLst>
          </p:cNvPr>
          <p:cNvSpPr>
            <a:spLocks noGrp="1"/>
          </p:cNvSpPr>
          <p:nvPr/>
        </p:nvSpPr>
        <p:spPr>
          <a:xfrm>
            <a:off x="517379" y="1343054"/>
            <a:ext cx="4746772" cy="2506766"/>
          </a:xfrm>
          <a:prstGeom prst="rect">
            <a:avLst/>
          </a:prstGeom>
        </p:spPr>
        <p:txBody>
          <a:bodyPr vert="horz" lIns="91440" tIns="45720" rIns="91440" bIns="45720" rtlCol="0" anchor="b">
            <a:normAutofit fontScale="77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800" b="1" kern="1200" dirty="0">
                <a:latin typeface="+mj-lt"/>
                <a:ea typeface="+mj-ea"/>
                <a:cs typeface="+mj-cs"/>
              </a:rPr>
              <a:t>CAPSTONE </a:t>
            </a:r>
            <a:r>
              <a:rPr lang="en-US" sz="2800" b="1" dirty="0"/>
              <a:t>PROJECT</a:t>
            </a:r>
            <a:endParaRPr lang="en-US" sz="5100" dirty="0">
              <a:latin typeface="Aptos"/>
            </a:endParaRPr>
          </a:p>
          <a:p>
            <a:pPr algn="l"/>
            <a:br>
              <a:rPr lang="en-US" sz="5100" b="1" dirty="0"/>
            </a:br>
            <a:r>
              <a:rPr lang="en-US" sz="5100" b="1" cap="all" dirty="0">
                <a:latin typeface="Arial" panose="020B0604020202020204" pitchFamily="34" charset="0"/>
                <a:cs typeface="Arial" panose="020B0604020202020204" pitchFamily="34" charset="0"/>
              </a:rPr>
              <a:t>fake news detection using machine learning</a:t>
            </a:r>
            <a:endParaRPr lang="en-US" sz="5100" dirty="0">
              <a:latin typeface="Arial" panose="020B0604020202020204" pitchFamily="34" charset="0"/>
              <a:cs typeface="Arial" panose="020B0604020202020204" pitchFamily="34" charset="0"/>
            </a:endParaRPr>
          </a:p>
          <a:p>
            <a:pPr algn="l"/>
            <a:endParaRPr lang="en-US" sz="5100" b="1" kern="1200" dirty="0"/>
          </a:p>
        </p:txBody>
      </p:sp>
      <p:sp>
        <p:nvSpPr>
          <p:cNvPr id="5" name="Subtitle 2">
            <a:extLst>
              <a:ext uri="{FF2B5EF4-FFF2-40B4-BE49-F238E27FC236}">
                <a16:creationId xmlns:a16="http://schemas.microsoft.com/office/drawing/2014/main" id="{3A663A0C-3931-F8E6-391C-2FF1FDBB09CD}"/>
              </a:ext>
            </a:extLst>
          </p:cNvPr>
          <p:cNvSpPr>
            <a:spLocks noGrp="1"/>
          </p:cNvSpPr>
          <p:nvPr/>
        </p:nvSpPr>
        <p:spPr>
          <a:xfrm>
            <a:off x="597304" y="3539384"/>
            <a:ext cx="4330709" cy="2938716"/>
          </a:xfrm>
          <a:prstGeom prst="rect">
            <a:avLst/>
          </a:prstGeom>
        </p:spPr>
        <p:txBody>
          <a:bodyPr vert="horz" lIns="91440" tIns="45720" rIns="91440" bIns="45720" rtlCol="0" anchor="t">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spcAft>
                <a:spcPts val="600"/>
              </a:spcAft>
            </a:pPr>
            <a:r>
              <a:rPr lang="en-US" sz="1600" b="1" cap="all" dirty="0">
                <a:latin typeface="Arial" panose="020B0604020202020204" pitchFamily="34" charset="0"/>
                <a:cs typeface="Arial" panose="020B0604020202020204" pitchFamily="34" charset="0"/>
              </a:rPr>
              <a:t>Presented By</a:t>
            </a:r>
            <a:endParaRPr lang="en-US" sz="1600" cap="all" dirty="0">
              <a:latin typeface="Arial" panose="020B0604020202020204" pitchFamily="34" charset="0"/>
              <a:cs typeface="Arial" panose="020B0604020202020204" pitchFamily="34" charset="0"/>
            </a:endParaRPr>
          </a:p>
          <a:p>
            <a:pPr algn="l">
              <a:spcAft>
                <a:spcPts val="600"/>
              </a:spcAft>
            </a:pPr>
            <a:r>
              <a:rPr lang="en-US" sz="1600" b="1" cap="all" dirty="0">
                <a:latin typeface="Arial" panose="020B0604020202020204" pitchFamily="34" charset="0"/>
                <a:cs typeface="Arial" panose="020B0604020202020204" pitchFamily="34" charset="0"/>
              </a:rPr>
              <a:t>Student Name: tejaswini Digambar lende</a:t>
            </a:r>
          </a:p>
          <a:p>
            <a:pPr algn="l">
              <a:spcAft>
                <a:spcPts val="600"/>
              </a:spcAft>
            </a:pPr>
            <a:r>
              <a:rPr lang="en-US" sz="1600" b="1" cap="all" dirty="0">
                <a:latin typeface="Arial" panose="020B0604020202020204" pitchFamily="34" charset="0"/>
                <a:cs typeface="Arial" panose="020B0604020202020204" pitchFamily="34" charset="0"/>
              </a:rPr>
              <a:t>College Name: </a:t>
            </a:r>
            <a:r>
              <a:rPr lang="en-US" sz="1600" b="1" cap="all" dirty="0" err="1">
                <a:latin typeface="Arial" panose="020B0604020202020204" pitchFamily="34" charset="0"/>
                <a:cs typeface="Arial" panose="020B0604020202020204" pitchFamily="34" charset="0"/>
              </a:rPr>
              <a:t>yeshwantrao</a:t>
            </a:r>
            <a:r>
              <a:rPr lang="en-US" sz="1600" b="1" cap="all" dirty="0">
                <a:latin typeface="Arial" panose="020B0604020202020204" pitchFamily="34" charset="0"/>
                <a:cs typeface="Arial" panose="020B0604020202020204" pitchFamily="34" charset="0"/>
              </a:rPr>
              <a:t> Chavan college of </a:t>
            </a:r>
            <a:r>
              <a:rPr lang="en-US" sz="1600" b="1" cap="all" dirty="0" err="1">
                <a:latin typeface="Arial" panose="020B0604020202020204" pitchFamily="34" charset="0"/>
                <a:cs typeface="Arial" panose="020B0604020202020204" pitchFamily="34" charset="0"/>
              </a:rPr>
              <a:t>engineering,nagpur</a:t>
            </a:r>
            <a:endParaRPr lang="en-US" sz="1600" b="1" cap="all" dirty="0">
              <a:latin typeface="Arial" panose="020B0604020202020204" pitchFamily="34" charset="0"/>
              <a:cs typeface="Arial" panose="020B0604020202020204" pitchFamily="34" charset="0"/>
            </a:endParaRPr>
          </a:p>
          <a:p>
            <a:pPr algn="l">
              <a:spcAft>
                <a:spcPts val="600"/>
              </a:spcAft>
            </a:pPr>
            <a:r>
              <a:rPr lang="en-US" sz="1600" b="1" cap="all" dirty="0">
                <a:latin typeface="Arial" panose="020B0604020202020204" pitchFamily="34" charset="0"/>
                <a:cs typeface="Arial" panose="020B0604020202020204" pitchFamily="34" charset="0"/>
              </a:rPr>
              <a:t>Department: computer science and engineering</a:t>
            </a:r>
          </a:p>
          <a:p>
            <a:pPr algn="l">
              <a:spcAft>
                <a:spcPts val="600"/>
              </a:spcAft>
            </a:pPr>
            <a:r>
              <a:rPr lang="en-US" sz="1600" b="1" cap="all" dirty="0">
                <a:latin typeface="Arial" panose="020B0604020202020204" pitchFamily="34" charset="0"/>
                <a:cs typeface="Arial" panose="020B0604020202020204" pitchFamily="34" charset="0"/>
              </a:rPr>
              <a:t>Email ID</a:t>
            </a:r>
            <a:r>
              <a:rPr lang="en-US" sz="1600" b="1" dirty="0">
                <a:latin typeface="Arial" panose="020B0604020202020204" pitchFamily="34" charset="0"/>
                <a:cs typeface="Arial" panose="020B0604020202020204" pitchFamily="34" charset="0"/>
              </a:rPr>
              <a:t>: tejaswinilende23@gmail.com</a:t>
            </a:r>
            <a:endParaRPr lang="en-US" sz="1600" b="1" cap="all"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nvSpPr>
        <p:spPr>
          <a:xfrm>
            <a:off x="5386598" y="269324"/>
            <a:ext cx="6116779" cy="620877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GB"/>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7F1AACBF-005C-C582-5718-05186E0F1D6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91469" y="879545"/>
            <a:ext cx="4329403" cy="4849450"/>
          </a:xfrm>
          <a:prstGeom prst="rect">
            <a:avLst/>
          </a:prstGeom>
        </p:spPr>
      </p:pic>
    </p:spTree>
    <p:custDataLst>
      <p:tags r:id="rId1"/>
    </p:custDataLst>
    <p:extLst>
      <p:ext uri="{BB962C8B-B14F-4D97-AF65-F5344CB8AC3E}">
        <p14:creationId xmlns:p14="http://schemas.microsoft.com/office/powerpoint/2010/main" val="2310333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E0E59-694D-9DFE-4488-37D5F2F480A7}"/>
              </a:ext>
            </a:extLst>
          </p:cNvPr>
          <p:cNvSpPr>
            <a:spLocks noGrp="1"/>
          </p:cNvSpPr>
          <p:nvPr>
            <p:ph type="title"/>
          </p:nvPr>
        </p:nvSpPr>
        <p:spPr>
          <a:xfrm>
            <a:off x="-1191" y="698500"/>
            <a:ext cx="10515600" cy="1325563"/>
          </a:xfrm>
        </p:spPr>
        <p:txBody>
          <a:bodyPr lIns="91440" tIns="45720" rIns="91440" bIns="45720" anchor="t">
            <a:normAutofit/>
          </a:bodyPr>
          <a:lstStyle/>
          <a:p>
            <a:r>
              <a:rPr lang="en-US" sz="5400" b="1" cap="all" dirty="0">
                <a:latin typeface="Arial"/>
                <a:cs typeface="Arial"/>
              </a:rPr>
              <a:t>OUTLINE:</a:t>
            </a:r>
            <a:endParaRPr lang="en-US" sz="5400" dirty="0"/>
          </a:p>
        </p:txBody>
      </p:sp>
      <p:sp>
        <p:nvSpPr>
          <p:cNvPr id="3" name="Content Placeholder 2">
            <a:extLst>
              <a:ext uri="{FF2B5EF4-FFF2-40B4-BE49-F238E27FC236}">
                <a16:creationId xmlns:a16="http://schemas.microsoft.com/office/drawing/2014/main" id="{1C04173D-62A9-AF06-B476-EEB827087147}"/>
              </a:ext>
            </a:extLst>
          </p:cNvPr>
          <p:cNvSpPr>
            <a:spLocks noGrp="1"/>
          </p:cNvSpPr>
          <p:nvPr>
            <p:ph idx="1"/>
          </p:nvPr>
        </p:nvSpPr>
        <p:spPr>
          <a:xfrm>
            <a:off x="433387" y="1822228"/>
            <a:ext cx="10515600" cy="4251960"/>
          </a:xfrm>
        </p:spPr>
        <p:txBody>
          <a:bodyPr vert="horz" lIns="91440" tIns="45720" rIns="91440" bIns="45720" rtlCol="0">
            <a:normAutofit/>
          </a:bodyPr>
          <a:lstStyle/>
          <a:p>
            <a:pPr marL="305435" indent="-305435">
              <a:spcBef>
                <a:spcPct val="20000"/>
              </a:spcBef>
              <a:spcAft>
                <a:spcPts val="600"/>
              </a:spcAft>
            </a:pPr>
            <a:r>
              <a:rPr lang="en-US" sz="2200" b="1" dirty="0">
                <a:latin typeface="Arial"/>
                <a:cs typeface="Arial"/>
              </a:rPr>
              <a:t>Problem Statement </a:t>
            </a:r>
            <a:r>
              <a:rPr lang="en-US" sz="2200" dirty="0">
                <a:latin typeface="Arial"/>
                <a:cs typeface="Arial"/>
              </a:rPr>
              <a:t>(Should not include solution)</a:t>
            </a:r>
          </a:p>
          <a:p>
            <a:pPr marL="305435" indent="-305435">
              <a:spcBef>
                <a:spcPct val="20000"/>
              </a:spcBef>
              <a:spcAft>
                <a:spcPts val="600"/>
              </a:spcAft>
            </a:pPr>
            <a:r>
              <a:rPr lang="en-US" sz="2200" b="1" dirty="0">
                <a:latin typeface="Arial"/>
                <a:cs typeface="Arial"/>
              </a:rPr>
              <a:t>Proposed System/Solution</a:t>
            </a:r>
            <a:endParaRPr lang="en-US" sz="2200" dirty="0">
              <a:latin typeface="Arial"/>
              <a:cs typeface="Arial"/>
            </a:endParaRPr>
          </a:p>
          <a:p>
            <a:pPr marL="305435" indent="-305435">
              <a:spcBef>
                <a:spcPct val="20000"/>
              </a:spcBef>
              <a:spcAft>
                <a:spcPts val="600"/>
              </a:spcAft>
            </a:pPr>
            <a:r>
              <a:rPr lang="en-US" sz="2200" b="1" dirty="0">
                <a:latin typeface="Arial"/>
                <a:cs typeface="Arial"/>
              </a:rPr>
              <a:t>System Development Approach </a:t>
            </a:r>
            <a:r>
              <a:rPr lang="en-US" sz="2200" dirty="0">
                <a:latin typeface="Arial"/>
                <a:cs typeface="Arial"/>
              </a:rPr>
              <a:t>(Technology Used) </a:t>
            </a:r>
          </a:p>
          <a:p>
            <a:pPr marL="305435" indent="-305435">
              <a:spcBef>
                <a:spcPct val="20000"/>
              </a:spcBef>
              <a:spcAft>
                <a:spcPts val="600"/>
              </a:spcAft>
            </a:pPr>
            <a:r>
              <a:rPr lang="en-US" sz="2200" b="1" dirty="0">
                <a:latin typeface="Arial"/>
                <a:cs typeface="Arial"/>
              </a:rPr>
              <a:t>Algorithm &amp; Deployment  </a:t>
            </a:r>
            <a:endParaRPr lang="en-US" sz="2200" dirty="0">
              <a:latin typeface="Arial"/>
              <a:cs typeface="Arial"/>
            </a:endParaRPr>
          </a:p>
          <a:p>
            <a:pPr marL="305435" indent="-305435">
              <a:spcBef>
                <a:spcPct val="20000"/>
              </a:spcBef>
              <a:spcAft>
                <a:spcPts val="600"/>
              </a:spcAft>
            </a:pPr>
            <a:r>
              <a:rPr lang="en-US" sz="2200" b="1" dirty="0">
                <a:latin typeface="Arial"/>
                <a:cs typeface="Arial"/>
              </a:rPr>
              <a:t>Result (Output Image)</a:t>
            </a:r>
            <a:endParaRPr lang="en-US" sz="2200" dirty="0">
              <a:latin typeface="Arial"/>
              <a:cs typeface="Arial"/>
            </a:endParaRPr>
          </a:p>
          <a:p>
            <a:pPr marL="305435" indent="-305435">
              <a:spcBef>
                <a:spcPct val="20000"/>
              </a:spcBef>
              <a:spcAft>
                <a:spcPts val="600"/>
              </a:spcAft>
            </a:pPr>
            <a:r>
              <a:rPr lang="en-US" sz="2200" b="1" dirty="0">
                <a:latin typeface="Arial"/>
                <a:cs typeface="Arial"/>
              </a:rPr>
              <a:t>Conclusion</a:t>
            </a:r>
            <a:endParaRPr lang="en-US" sz="2200" dirty="0">
              <a:latin typeface="Arial"/>
              <a:cs typeface="Arial"/>
            </a:endParaRPr>
          </a:p>
          <a:p>
            <a:pPr marL="305435" indent="-305435">
              <a:spcBef>
                <a:spcPct val="20000"/>
              </a:spcBef>
              <a:spcAft>
                <a:spcPts val="600"/>
              </a:spcAft>
            </a:pPr>
            <a:r>
              <a:rPr lang="en-US" sz="2200" b="1" dirty="0">
                <a:latin typeface="Arial"/>
                <a:cs typeface="Arial"/>
              </a:rPr>
              <a:t>Future Scope</a:t>
            </a:r>
            <a:endParaRPr lang="en-US" sz="2200" dirty="0">
              <a:latin typeface="Arial"/>
              <a:cs typeface="Arial"/>
            </a:endParaRPr>
          </a:p>
          <a:p>
            <a:pPr marL="305435" indent="-305435">
              <a:spcBef>
                <a:spcPct val="20000"/>
              </a:spcBef>
              <a:spcAft>
                <a:spcPts val="600"/>
              </a:spcAft>
            </a:pPr>
            <a:r>
              <a:rPr lang="en-US" sz="2200" b="1" dirty="0">
                <a:latin typeface="Arial"/>
                <a:cs typeface="Arial"/>
              </a:rPr>
              <a:t>References</a:t>
            </a:r>
            <a:endParaRPr lang="en-US" sz="2200" dirty="0">
              <a:latin typeface="Arial"/>
              <a:cs typeface="Arial"/>
            </a:endParaRPr>
          </a:p>
          <a:p>
            <a:endParaRPr lang="en-GB" sz="2200" dirty="0">
              <a:latin typeface="Aptos" panose="020B0004020202020204"/>
              <a:cs typeface="Arial"/>
            </a:endParaRPr>
          </a:p>
        </p:txBody>
      </p:sp>
    </p:spTree>
    <p:extLst>
      <p:ext uri="{BB962C8B-B14F-4D97-AF65-F5344CB8AC3E}">
        <p14:creationId xmlns:p14="http://schemas.microsoft.com/office/powerpoint/2010/main" val="2817874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39B35C-A00A-C6C7-8532-576758ED4255}"/>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a:latin typeface="Arial"/>
                <a:cs typeface="Arial"/>
              </a:rPr>
              <a:t>problem </a:t>
            </a:r>
            <a:r>
              <a:rPr lang="en-US" sz="4000" b="1" cap="all" dirty="0" err="1">
                <a:latin typeface="Arial"/>
                <a:cs typeface="Arial"/>
              </a:rPr>
              <a:t>StPatement</a:t>
            </a:r>
            <a:r>
              <a:rPr lang="en-US" sz="4000" b="1" cap="all" dirty="0">
                <a:latin typeface="Arial"/>
                <a:cs typeface="Arial"/>
              </a:rPr>
              <a:t>:</a:t>
            </a:r>
            <a:endParaRPr lang="en-US" sz="4000" dirty="0"/>
          </a:p>
        </p:txBody>
      </p:sp>
      <p:sp>
        <p:nvSpPr>
          <p:cNvPr id="3" name="Content Placeholder 2">
            <a:extLst>
              <a:ext uri="{FF2B5EF4-FFF2-40B4-BE49-F238E27FC236}">
                <a16:creationId xmlns:a16="http://schemas.microsoft.com/office/drawing/2014/main" id="{28E8C97F-5AC9-F1CA-3CCC-090D5B13989A}"/>
              </a:ext>
            </a:extLst>
          </p:cNvPr>
          <p:cNvSpPr>
            <a:spLocks noGrp="1"/>
          </p:cNvSpPr>
          <p:nvPr>
            <p:ph idx="1"/>
          </p:nvPr>
        </p:nvSpPr>
        <p:spPr>
          <a:xfrm>
            <a:off x="290512" y="1715071"/>
            <a:ext cx="10515600" cy="4251960"/>
          </a:xfrm>
        </p:spPr>
        <p:txBody>
          <a:bodyPr vert="horz" lIns="91440" tIns="45720" rIns="91440" bIns="45720" rtlCol="0">
            <a:normAutofit/>
          </a:bodyPr>
          <a:lstStyle/>
          <a:p>
            <a:pPr marL="0" indent="0" algn="just">
              <a:buNone/>
            </a:pPr>
            <a:r>
              <a:rPr lang="en-US" sz="1800" dirty="0">
                <a:latin typeface="Arial" panose="020B0604020202020204" pitchFamily="34" charset="0"/>
                <a:cs typeface="Arial" panose="020B0604020202020204" pitchFamily="34" charset="0"/>
              </a:rPr>
              <a:t>In today’s digital world, a large amount of news is shared through the internet and social media platforms such as Facebook, Twitter (X), and WhatsApp. Many of these news articles are fake or misleading and spread quickly among </a:t>
            </a:r>
            <a:r>
              <a:rPr lang="en-US" sz="1800" dirty="0" err="1">
                <a:latin typeface="Arial" panose="020B0604020202020204" pitchFamily="34" charset="0"/>
                <a:cs typeface="Arial" panose="020B0604020202020204" pitchFamily="34" charset="0"/>
              </a:rPr>
              <a:t>people.Fake</a:t>
            </a:r>
            <a:r>
              <a:rPr lang="en-US" sz="1800" dirty="0">
                <a:latin typeface="Arial" panose="020B0604020202020204" pitchFamily="34" charset="0"/>
                <a:cs typeface="Arial" panose="020B0604020202020204" pitchFamily="34" charset="0"/>
              </a:rPr>
              <a:t> news can create confusion, spread false information, and negatively affect society. It is difficult for users to manually verify whether a news article is real or </a:t>
            </a:r>
            <a:r>
              <a:rPr lang="en-US" sz="1800" dirty="0" err="1">
                <a:latin typeface="Arial" panose="020B0604020202020204" pitchFamily="34" charset="0"/>
                <a:cs typeface="Arial" panose="020B0604020202020204" pitchFamily="34" charset="0"/>
              </a:rPr>
              <a:t>fake.Currently</a:t>
            </a:r>
            <a:r>
              <a:rPr lang="en-US" sz="1800" dirty="0">
                <a:latin typeface="Arial" panose="020B0604020202020204" pitchFamily="34" charset="0"/>
                <a:cs typeface="Arial" panose="020B0604020202020204" pitchFamily="34" charset="0"/>
              </a:rPr>
              <a:t>, there is no simple and fast method available for automatically identifying fake </a:t>
            </a:r>
            <a:r>
              <a:rPr lang="en-US" sz="1800" dirty="0" err="1">
                <a:latin typeface="Arial" panose="020B0604020202020204" pitchFamily="34" charset="0"/>
                <a:cs typeface="Arial" panose="020B0604020202020204" pitchFamily="34" charset="0"/>
              </a:rPr>
              <a:t>news.Therefore</a:t>
            </a:r>
            <a:r>
              <a:rPr lang="en-US" sz="1800" dirty="0">
                <a:latin typeface="Arial" panose="020B0604020202020204" pitchFamily="34" charset="0"/>
                <a:cs typeface="Arial" panose="020B0604020202020204" pitchFamily="34" charset="0"/>
              </a:rPr>
              <a:t>, there is a need to develop a system that can automatically detect fake news using machine learning techniques and help users identify trustworthy information</a:t>
            </a:r>
          </a:p>
          <a:p>
            <a:pPr marL="0" indent="0" algn="just">
              <a:buNone/>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72914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7B4B1-584E-2479-D762-2265C7398D27}"/>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Proposed Solution:</a:t>
            </a:r>
            <a:endParaRPr lang="en-US" sz="4000" dirty="0"/>
          </a:p>
        </p:txBody>
      </p:sp>
      <p:sp>
        <p:nvSpPr>
          <p:cNvPr id="3" name="Content Placeholder 2">
            <a:extLst>
              <a:ext uri="{FF2B5EF4-FFF2-40B4-BE49-F238E27FC236}">
                <a16:creationId xmlns:a16="http://schemas.microsoft.com/office/drawing/2014/main" id="{AF67202D-4065-DDD7-98F1-4291C536D1A3}"/>
              </a:ext>
            </a:extLst>
          </p:cNvPr>
          <p:cNvSpPr>
            <a:spLocks noGrp="1"/>
          </p:cNvSpPr>
          <p:nvPr>
            <p:ph idx="1"/>
          </p:nvPr>
        </p:nvSpPr>
        <p:spPr>
          <a:xfrm>
            <a:off x="219075" y="1158240"/>
            <a:ext cx="10515600" cy="5801360"/>
          </a:xfrm>
        </p:spPr>
        <p:txBody>
          <a:bodyPr vert="horz" lIns="91440" tIns="45720" rIns="91440" bIns="45720" rtlCol="0" anchor="t">
            <a:noAutofit/>
          </a:bodyPr>
          <a:lstStyle/>
          <a:p>
            <a:r>
              <a:rPr lang="en-US" sz="1400" dirty="0"/>
              <a:t>The proposed system is a </a:t>
            </a:r>
            <a:r>
              <a:rPr lang="en-US" sz="1400" b="1" dirty="0"/>
              <a:t>Fake News Detection System</a:t>
            </a:r>
            <a:r>
              <a:rPr lang="en-US" sz="1400" dirty="0"/>
              <a:t> that uses Machine Learning to identify whether a news article is </a:t>
            </a:r>
            <a:r>
              <a:rPr lang="en-US" sz="1400" b="1" dirty="0"/>
              <a:t>real or fake</a:t>
            </a:r>
            <a:r>
              <a:rPr lang="en-US" sz="1400" dirty="0"/>
              <a:t> </a:t>
            </a:r>
            <a:r>
              <a:rPr lang="en-US" sz="1400" dirty="0" err="1"/>
              <a:t>automatically.The</a:t>
            </a:r>
            <a:r>
              <a:rPr lang="en-US" sz="1400" dirty="0"/>
              <a:t> system will analyze the news text and predict the result using a trained machine learning model.</a:t>
            </a:r>
            <a:r>
              <a:rPr lang="en-US" sz="1400" b="1" dirty="0"/>
              <a:t> Steps of Proposed System</a:t>
            </a:r>
          </a:p>
          <a:p>
            <a:r>
              <a:rPr lang="en-US" sz="1400" b="1" dirty="0"/>
              <a:t> Data Collection </a:t>
            </a:r>
            <a:endParaRPr lang="en-US" sz="1400" dirty="0"/>
          </a:p>
          <a:p>
            <a:pPr marL="0" indent="0">
              <a:buNone/>
            </a:pPr>
            <a:r>
              <a:rPr lang="en-US" sz="1400" dirty="0"/>
              <a:t>         Collect fake and real news datasets from online sources.</a:t>
            </a:r>
          </a:p>
          <a:p>
            <a:pPr marL="0" indent="0">
              <a:buNone/>
            </a:pPr>
            <a:r>
              <a:rPr lang="en-US" sz="1400" dirty="0"/>
              <a:t>         The dataset contains news text and labels (Real or Fake).</a:t>
            </a:r>
          </a:p>
          <a:p>
            <a:r>
              <a:rPr lang="en-US" sz="1400" b="1" dirty="0"/>
              <a:t> Data Preprocessing </a:t>
            </a:r>
            <a:endParaRPr lang="en-US" sz="1400" dirty="0"/>
          </a:p>
          <a:p>
            <a:pPr marL="0" indent="0">
              <a:buNone/>
            </a:pPr>
            <a:r>
              <a:rPr lang="en-US" sz="1400" dirty="0"/>
              <a:t>         Remove unnecessary symbols and special characters.</a:t>
            </a:r>
          </a:p>
          <a:p>
            <a:pPr marL="0" indent="0">
              <a:buNone/>
            </a:pPr>
            <a:r>
              <a:rPr lang="en-US" sz="1400" dirty="0"/>
              <a:t>         Convert text into </a:t>
            </a:r>
            <a:r>
              <a:rPr lang="en-US" sz="1400" dirty="0" err="1"/>
              <a:t>lowercase.Prepare</a:t>
            </a:r>
            <a:r>
              <a:rPr lang="en-US" sz="1400" dirty="0"/>
              <a:t> the data for machine learning.</a:t>
            </a:r>
          </a:p>
          <a:p>
            <a:r>
              <a:rPr lang="en-US" sz="1400" b="1" dirty="0"/>
              <a:t> Feature Extraction </a:t>
            </a:r>
            <a:endParaRPr lang="en-US" sz="1400" dirty="0"/>
          </a:p>
          <a:p>
            <a:pPr marL="0" indent="0">
              <a:buNone/>
            </a:pPr>
            <a:r>
              <a:rPr lang="en-US" sz="1400" dirty="0"/>
              <a:t>         Convert news text into numerical form using TF-IDF method.</a:t>
            </a:r>
          </a:p>
          <a:p>
            <a:pPr marL="0" indent="0">
              <a:buNone/>
            </a:pPr>
            <a:r>
              <a:rPr lang="en-US" sz="1400" dirty="0"/>
              <a:t>         This helps the computer understand the text.</a:t>
            </a:r>
          </a:p>
          <a:p>
            <a:r>
              <a:rPr lang="en-US" sz="1400" b="1" dirty="0"/>
              <a:t> Model Training </a:t>
            </a:r>
            <a:endParaRPr lang="en-US" sz="1400" dirty="0"/>
          </a:p>
          <a:p>
            <a:pPr marL="0" indent="0">
              <a:buNone/>
            </a:pPr>
            <a:r>
              <a:rPr lang="en-US" sz="1400" dirty="0"/>
              <a:t>        Train a Machine Learning model such as Random Forest.</a:t>
            </a:r>
          </a:p>
          <a:p>
            <a:pPr marL="0" indent="0">
              <a:buNone/>
            </a:pPr>
            <a:r>
              <a:rPr lang="en-US" sz="1400" dirty="0"/>
              <a:t>        The model learns patterns of fake and real news.</a:t>
            </a:r>
          </a:p>
          <a:p>
            <a:r>
              <a:rPr lang="en-US" sz="1400" b="1" dirty="0"/>
              <a:t> Prediction </a:t>
            </a:r>
          </a:p>
          <a:p>
            <a:pPr marL="0" indent="0">
              <a:buNone/>
            </a:pPr>
            <a:r>
              <a:rPr lang="en-US" sz="1400" b="1" dirty="0"/>
              <a:t>       </a:t>
            </a:r>
            <a:r>
              <a:rPr lang="en-US" sz="1400" dirty="0"/>
              <a:t>User enters news text.</a:t>
            </a:r>
          </a:p>
          <a:p>
            <a:pPr marL="0" indent="0">
              <a:buNone/>
            </a:pPr>
            <a:r>
              <a:rPr lang="en-US" sz="1400" dirty="0"/>
              <a:t>       System predicts whether the news is: Real News  or Fake News</a:t>
            </a:r>
          </a:p>
        </p:txBody>
      </p:sp>
    </p:spTree>
    <p:extLst>
      <p:ext uri="{BB962C8B-B14F-4D97-AF65-F5344CB8AC3E}">
        <p14:creationId xmlns:p14="http://schemas.microsoft.com/office/powerpoint/2010/main" val="2041396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92D15-41B4-89C1-0EA3-03BC9FA16F97}"/>
              </a:ext>
            </a:extLst>
          </p:cNvPr>
          <p:cNvSpPr>
            <a:spLocks noGrp="1"/>
          </p:cNvSpPr>
          <p:nvPr>
            <p:ph type="title"/>
          </p:nvPr>
        </p:nvSpPr>
        <p:spPr>
          <a:xfrm>
            <a:off x="-548" y="699528"/>
            <a:ext cx="10515600" cy="1325563"/>
          </a:xfrm>
        </p:spPr>
        <p:txBody>
          <a:bodyPr lIns="91440" tIns="45720" rIns="91440" bIns="45720" anchor="t">
            <a:normAutofit/>
          </a:bodyPr>
          <a:lstStyle/>
          <a:p>
            <a:r>
              <a:rPr lang="en-US" sz="4000" b="1" cap="all" dirty="0">
                <a:latin typeface="Arial"/>
                <a:cs typeface="Arial"/>
              </a:rPr>
              <a:t>System  Approach:</a:t>
            </a:r>
            <a:endParaRPr lang="en-US" sz="4000" dirty="0"/>
          </a:p>
        </p:txBody>
      </p:sp>
      <p:sp>
        <p:nvSpPr>
          <p:cNvPr id="3" name="Content Placeholder 2">
            <a:extLst>
              <a:ext uri="{FF2B5EF4-FFF2-40B4-BE49-F238E27FC236}">
                <a16:creationId xmlns:a16="http://schemas.microsoft.com/office/drawing/2014/main" id="{FE07E8EE-7F26-D809-3523-C58876935A4E}"/>
              </a:ext>
            </a:extLst>
          </p:cNvPr>
          <p:cNvSpPr>
            <a:spLocks noGrp="1"/>
          </p:cNvSpPr>
          <p:nvPr>
            <p:ph idx="1"/>
          </p:nvPr>
        </p:nvSpPr>
        <p:spPr>
          <a:xfrm>
            <a:off x="317409" y="1715586"/>
            <a:ext cx="10515600" cy="4251960"/>
          </a:xfrm>
        </p:spPr>
        <p:txBody>
          <a:bodyPr vert="horz" lIns="91440" tIns="45720" rIns="91440" bIns="45720" rtlCol="0">
            <a:normAutofit lnSpcReduction="10000"/>
          </a:bodyPr>
          <a:lstStyle/>
          <a:p>
            <a:r>
              <a:rPr lang="en-IN" sz="1800" b="1" dirty="0"/>
              <a:t>System Requirements</a:t>
            </a:r>
          </a:p>
          <a:p>
            <a:r>
              <a:rPr lang="en-IN" sz="1800" b="1" dirty="0"/>
              <a:t>Hardware</a:t>
            </a:r>
            <a:endParaRPr lang="en-IN" sz="1800" dirty="0"/>
          </a:p>
          <a:p>
            <a:r>
              <a:rPr lang="en-IN" sz="1800" dirty="0"/>
              <a:t>Laptop / PC</a:t>
            </a:r>
          </a:p>
          <a:p>
            <a:r>
              <a:rPr lang="en-IN" sz="1800" dirty="0"/>
              <a:t>4GB RAM minimum</a:t>
            </a:r>
          </a:p>
          <a:p>
            <a:r>
              <a:rPr lang="en-IN" sz="1800" b="1" dirty="0"/>
              <a:t>Software</a:t>
            </a:r>
            <a:endParaRPr lang="en-IN" sz="1800" dirty="0"/>
          </a:p>
          <a:p>
            <a:r>
              <a:rPr lang="en-IN" sz="1800" dirty="0"/>
              <a:t>Python</a:t>
            </a:r>
          </a:p>
          <a:p>
            <a:r>
              <a:rPr lang="en-IN" sz="1800" dirty="0" err="1"/>
              <a:t>Jupyter</a:t>
            </a:r>
            <a:r>
              <a:rPr lang="en-IN" sz="1800" dirty="0"/>
              <a:t> Notebook</a:t>
            </a:r>
          </a:p>
          <a:p>
            <a:r>
              <a:rPr lang="en-US" sz="1800" b="1" dirty="0"/>
              <a:t>Libraries Required</a:t>
            </a:r>
          </a:p>
          <a:p>
            <a:r>
              <a:rPr lang="en-US" sz="1800" dirty="0"/>
              <a:t>Pandas</a:t>
            </a:r>
          </a:p>
          <a:p>
            <a:r>
              <a:rPr lang="en-US" sz="1800" dirty="0" err="1"/>
              <a:t>Numpy</a:t>
            </a:r>
            <a:endParaRPr lang="en-US" sz="1800" dirty="0"/>
          </a:p>
          <a:p>
            <a:r>
              <a:rPr lang="en-US" sz="1800" dirty="0" err="1"/>
              <a:t>Sklearn</a:t>
            </a:r>
            <a:endParaRPr lang="en-US" sz="1800" dirty="0"/>
          </a:p>
          <a:p>
            <a:r>
              <a:rPr lang="en-US" sz="1800" dirty="0"/>
              <a:t>Matplotlib</a:t>
            </a:r>
          </a:p>
          <a:p>
            <a:pPr marL="0" indent="0">
              <a:spcBef>
                <a:spcPct val="20000"/>
              </a:spcBef>
              <a:spcAft>
                <a:spcPts val="600"/>
              </a:spcAft>
              <a:buNone/>
            </a:pP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1125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DBEE6-616C-2711-86DB-C62E77D17F92}"/>
              </a:ext>
            </a:extLst>
          </p:cNvPr>
          <p:cNvSpPr>
            <a:spLocks noGrp="1"/>
          </p:cNvSpPr>
          <p:nvPr>
            <p:ph type="title"/>
          </p:nvPr>
        </p:nvSpPr>
        <p:spPr>
          <a:xfrm>
            <a:off x="-1191" y="686594"/>
            <a:ext cx="10515600" cy="1325563"/>
          </a:xfrm>
        </p:spPr>
        <p:txBody>
          <a:bodyPr lIns="91440" tIns="45720" rIns="91440" bIns="45720" anchor="t">
            <a:normAutofit/>
          </a:bodyPr>
          <a:lstStyle/>
          <a:p>
            <a:r>
              <a:rPr lang="en-US" sz="4000" b="1" cap="all" dirty="0">
                <a:latin typeface="Arial"/>
                <a:cs typeface="Arial"/>
              </a:rPr>
              <a:t>Algorithm &amp; Deployment:</a:t>
            </a:r>
            <a:endParaRPr lang="en-US" sz="4000" dirty="0"/>
          </a:p>
        </p:txBody>
      </p:sp>
      <p:sp>
        <p:nvSpPr>
          <p:cNvPr id="3" name="Content Placeholder 2">
            <a:extLst>
              <a:ext uri="{FF2B5EF4-FFF2-40B4-BE49-F238E27FC236}">
                <a16:creationId xmlns:a16="http://schemas.microsoft.com/office/drawing/2014/main" id="{B5107410-DE3D-5F62-F9D7-11EAEA92F0BB}"/>
              </a:ext>
            </a:extLst>
          </p:cNvPr>
          <p:cNvSpPr>
            <a:spLocks noGrp="1"/>
          </p:cNvSpPr>
          <p:nvPr>
            <p:ph idx="1"/>
          </p:nvPr>
        </p:nvSpPr>
        <p:spPr>
          <a:xfrm>
            <a:off x="0" y="1097280"/>
            <a:ext cx="11958320" cy="5577840"/>
          </a:xfrm>
        </p:spPr>
        <p:txBody>
          <a:bodyPr vert="horz" lIns="91440" tIns="45720" rIns="91440" bIns="45720" rtlCol="0">
            <a:normAutofit fontScale="25000" lnSpcReduction="20000"/>
          </a:bodyPr>
          <a:lstStyle/>
          <a:p>
            <a:pPr marL="0" indent="0">
              <a:buNone/>
            </a:pPr>
            <a:endParaRPr lang="en-IN" sz="7200" b="1" dirty="0">
              <a:latin typeface="Arial" panose="020B0604020202020204" pitchFamily="34" charset="0"/>
              <a:cs typeface="Arial" panose="020B0604020202020204" pitchFamily="34" charset="0"/>
            </a:endParaRPr>
          </a:p>
          <a:p>
            <a:pPr marL="0" indent="0">
              <a:buNone/>
            </a:pPr>
            <a:r>
              <a:rPr lang="en-IN" sz="7200" b="1" dirty="0">
                <a:latin typeface="Arial" panose="020B0604020202020204" pitchFamily="34" charset="0"/>
                <a:cs typeface="Arial" panose="020B0604020202020204" pitchFamily="34" charset="0"/>
              </a:rPr>
              <a:t>Algorithm Used</a:t>
            </a:r>
          </a:p>
          <a:p>
            <a:r>
              <a:rPr lang="en-IN" sz="7200" dirty="0">
                <a:latin typeface="Arial" panose="020B0604020202020204" pitchFamily="34" charset="0"/>
                <a:cs typeface="Arial" panose="020B0604020202020204" pitchFamily="34" charset="0"/>
              </a:rPr>
              <a:t>Random Forest Algorithm</a:t>
            </a:r>
          </a:p>
          <a:p>
            <a:r>
              <a:rPr lang="en-IN" sz="7200" dirty="0">
                <a:latin typeface="Arial" panose="020B0604020202020204" pitchFamily="34" charset="0"/>
                <a:cs typeface="Arial" panose="020B0604020202020204" pitchFamily="34" charset="0"/>
              </a:rPr>
              <a:t>Random Forest is a machine learning algorithm used for classification.</a:t>
            </a:r>
          </a:p>
          <a:p>
            <a:r>
              <a:rPr lang="en-IN" sz="7200" dirty="0">
                <a:latin typeface="Arial" panose="020B0604020202020204" pitchFamily="34" charset="0"/>
                <a:cs typeface="Arial" panose="020B0604020202020204" pitchFamily="34" charset="0"/>
              </a:rPr>
              <a:t>It predicts whether news is:</a:t>
            </a:r>
          </a:p>
          <a:p>
            <a:r>
              <a:rPr lang="en-IN" sz="7200" dirty="0">
                <a:latin typeface="Arial" panose="020B0604020202020204" pitchFamily="34" charset="0"/>
                <a:cs typeface="Arial" panose="020B0604020202020204" pitchFamily="34" charset="0"/>
              </a:rPr>
              <a:t>✔ Real or Fake</a:t>
            </a:r>
          </a:p>
          <a:p>
            <a:pPr marL="0" indent="0">
              <a:buNone/>
            </a:pPr>
            <a:endParaRPr lang="en-IN" sz="7200" dirty="0">
              <a:latin typeface="Arial" panose="020B0604020202020204" pitchFamily="34" charset="0"/>
              <a:cs typeface="Arial" panose="020B0604020202020204" pitchFamily="34" charset="0"/>
            </a:endParaRPr>
          </a:p>
          <a:p>
            <a:pPr marL="0" indent="0">
              <a:buNone/>
            </a:pPr>
            <a:r>
              <a:rPr lang="en-IN" sz="7200" b="1" dirty="0">
                <a:latin typeface="Arial" panose="020B0604020202020204" pitchFamily="34" charset="0"/>
                <a:cs typeface="Arial" panose="020B0604020202020204" pitchFamily="34" charset="0"/>
              </a:rPr>
              <a:t>Data Input</a:t>
            </a:r>
          </a:p>
          <a:p>
            <a:r>
              <a:rPr lang="en-IN" sz="7200" dirty="0">
                <a:latin typeface="Arial" panose="020B0604020202020204" pitchFamily="34" charset="0"/>
                <a:cs typeface="Arial" panose="020B0604020202020204" pitchFamily="34" charset="0"/>
              </a:rPr>
              <a:t>Input Features:</a:t>
            </a:r>
          </a:p>
          <a:p>
            <a:r>
              <a:rPr lang="en-IN" sz="7200" dirty="0">
                <a:latin typeface="Arial" panose="020B0604020202020204" pitchFamily="34" charset="0"/>
                <a:cs typeface="Arial" panose="020B0604020202020204" pitchFamily="34" charset="0"/>
              </a:rPr>
              <a:t>News Title</a:t>
            </a:r>
          </a:p>
          <a:p>
            <a:r>
              <a:rPr lang="en-IN" sz="7200" dirty="0">
                <a:latin typeface="Arial" panose="020B0604020202020204" pitchFamily="34" charset="0"/>
                <a:cs typeface="Arial" panose="020B0604020202020204" pitchFamily="34" charset="0"/>
              </a:rPr>
              <a:t>News Text</a:t>
            </a:r>
          </a:p>
          <a:p>
            <a:r>
              <a:rPr lang="en-IN" sz="7200" dirty="0" err="1">
                <a:latin typeface="Arial" panose="020B0604020202020204" pitchFamily="34" charset="0"/>
                <a:cs typeface="Arial" panose="020B0604020202020204" pitchFamily="34" charset="0"/>
              </a:rPr>
              <a:t>Output:Fake</a:t>
            </a:r>
            <a:r>
              <a:rPr lang="en-IN" sz="7200" dirty="0">
                <a:latin typeface="Arial" panose="020B0604020202020204" pitchFamily="34" charset="0"/>
                <a:cs typeface="Arial" panose="020B0604020202020204" pitchFamily="34" charset="0"/>
              </a:rPr>
              <a:t> News           Real News</a:t>
            </a:r>
          </a:p>
          <a:p>
            <a:pPr marL="0" indent="0">
              <a:buNone/>
            </a:pPr>
            <a:endParaRPr lang="en-IN" sz="7200" dirty="0">
              <a:latin typeface="Arial" panose="020B0604020202020204" pitchFamily="34" charset="0"/>
              <a:cs typeface="Arial" panose="020B0604020202020204" pitchFamily="34" charset="0"/>
            </a:endParaRPr>
          </a:p>
          <a:p>
            <a:pPr marL="0" indent="0">
              <a:buNone/>
            </a:pPr>
            <a:r>
              <a:rPr lang="en-IN" sz="7200" b="1" dirty="0">
                <a:latin typeface="Arial" panose="020B0604020202020204" pitchFamily="34" charset="0"/>
                <a:cs typeface="Arial" panose="020B0604020202020204" pitchFamily="34" charset="0"/>
              </a:rPr>
              <a:t>Training Process</a:t>
            </a:r>
          </a:p>
          <a:p>
            <a:r>
              <a:rPr lang="en-IN" sz="7200" dirty="0">
                <a:latin typeface="Arial" panose="020B0604020202020204" pitchFamily="34" charset="0"/>
                <a:cs typeface="Arial" panose="020B0604020202020204" pitchFamily="34" charset="0"/>
              </a:rPr>
              <a:t>Load Dataset</a:t>
            </a:r>
          </a:p>
          <a:p>
            <a:r>
              <a:rPr lang="en-IN" sz="7200" dirty="0">
                <a:latin typeface="Arial" panose="020B0604020202020204" pitchFamily="34" charset="0"/>
                <a:cs typeface="Arial" panose="020B0604020202020204" pitchFamily="34" charset="0"/>
              </a:rPr>
              <a:t>Clean Data</a:t>
            </a:r>
          </a:p>
          <a:p>
            <a:r>
              <a:rPr lang="en-IN" sz="7200" dirty="0">
                <a:latin typeface="Arial" panose="020B0604020202020204" pitchFamily="34" charset="0"/>
                <a:cs typeface="Arial" panose="020B0604020202020204" pitchFamily="34" charset="0"/>
              </a:rPr>
              <a:t>Train Model</a:t>
            </a:r>
          </a:p>
          <a:p>
            <a:r>
              <a:rPr lang="en-IN" sz="7200" dirty="0">
                <a:latin typeface="Arial" panose="020B0604020202020204" pitchFamily="34" charset="0"/>
                <a:cs typeface="Arial" panose="020B0604020202020204" pitchFamily="34" charset="0"/>
              </a:rPr>
              <a:t>Test Model</a:t>
            </a:r>
          </a:p>
          <a:p>
            <a:endParaRPr lang="en-US" sz="1800" dirty="0"/>
          </a:p>
        </p:txBody>
      </p:sp>
    </p:spTree>
    <p:extLst>
      <p:ext uri="{BB962C8B-B14F-4D97-AF65-F5344CB8AC3E}">
        <p14:creationId xmlns:p14="http://schemas.microsoft.com/office/powerpoint/2010/main" val="11990843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F756E-D4E1-5A9A-636A-7FA06EC394F3}"/>
              </a:ext>
            </a:extLst>
          </p:cNvPr>
          <p:cNvSpPr>
            <a:spLocks noGrp="1"/>
          </p:cNvSpPr>
          <p:nvPr>
            <p:ph type="title"/>
          </p:nvPr>
        </p:nvSpPr>
        <p:spPr>
          <a:xfrm>
            <a:off x="-1191" y="603250"/>
            <a:ext cx="10515600" cy="1325563"/>
          </a:xfrm>
        </p:spPr>
        <p:txBody>
          <a:bodyPr lIns="91440" tIns="45720" rIns="91440" bIns="45720" anchor="t">
            <a:normAutofit/>
          </a:bodyPr>
          <a:lstStyle/>
          <a:p>
            <a:r>
              <a:rPr lang="en-US" sz="4000" b="1" cap="all">
                <a:latin typeface="Arial"/>
                <a:cs typeface="Arial"/>
              </a:rPr>
              <a:t>Result:</a:t>
            </a:r>
            <a:endParaRPr lang="en-US" sz="4000" dirty="0"/>
          </a:p>
        </p:txBody>
      </p:sp>
      <p:pic>
        <p:nvPicPr>
          <p:cNvPr id="5" name="Content Placeholder 4">
            <a:extLst>
              <a:ext uri="{FF2B5EF4-FFF2-40B4-BE49-F238E27FC236}">
                <a16:creationId xmlns:a16="http://schemas.microsoft.com/office/drawing/2014/main" id="{1F5E6824-F3E5-B877-8843-FB88EBE9F8D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72974" y="1584325"/>
            <a:ext cx="5245928" cy="4251325"/>
          </a:xfrm>
        </p:spPr>
      </p:pic>
      <p:pic>
        <p:nvPicPr>
          <p:cNvPr id="7" name="Picture 6">
            <a:extLst>
              <a:ext uri="{FF2B5EF4-FFF2-40B4-BE49-F238E27FC236}">
                <a16:creationId xmlns:a16="http://schemas.microsoft.com/office/drawing/2014/main" id="{84D86996-5D1C-4B22-958A-FA619F52A9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7217" y="666506"/>
            <a:ext cx="7427168" cy="6019011"/>
          </a:xfrm>
          <a:prstGeom prst="rect">
            <a:avLst/>
          </a:prstGeom>
        </p:spPr>
      </p:pic>
    </p:spTree>
    <p:extLst>
      <p:ext uri="{BB962C8B-B14F-4D97-AF65-F5344CB8AC3E}">
        <p14:creationId xmlns:p14="http://schemas.microsoft.com/office/powerpoint/2010/main" val="5874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95082-09E2-DC6F-1120-7FF66776E0F8}"/>
              </a:ext>
            </a:extLst>
          </p:cNvPr>
          <p:cNvSpPr>
            <a:spLocks noGrp="1"/>
          </p:cNvSpPr>
          <p:nvPr>
            <p:ph type="title"/>
          </p:nvPr>
        </p:nvSpPr>
        <p:spPr/>
        <p:txBody>
          <a:bodyPr/>
          <a:lstStyle/>
          <a:p>
            <a:br>
              <a:rPr lang="en-IN" dirty="0"/>
            </a:br>
            <a:endParaRPr lang="en-IN" dirty="0"/>
          </a:p>
        </p:txBody>
      </p:sp>
      <p:pic>
        <p:nvPicPr>
          <p:cNvPr id="5" name="Content Placeholder 4">
            <a:extLst>
              <a:ext uri="{FF2B5EF4-FFF2-40B4-BE49-F238E27FC236}">
                <a16:creationId xmlns:a16="http://schemas.microsoft.com/office/drawing/2014/main" id="{5519553E-21E5-1D2E-8EB8-1A72FDF236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p:pic>
      <p:pic>
        <p:nvPicPr>
          <p:cNvPr id="7" name="Picture 6">
            <a:extLst>
              <a:ext uri="{FF2B5EF4-FFF2-40B4-BE49-F238E27FC236}">
                <a16:creationId xmlns:a16="http://schemas.microsoft.com/office/drawing/2014/main" id="{0A3397A9-53E3-2FC4-3562-19394AA7FA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681136"/>
            <a:ext cx="6708710" cy="5952930"/>
          </a:xfrm>
          <a:prstGeom prst="rect">
            <a:avLst/>
          </a:prstGeom>
        </p:spPr>
      </p:pic>
      <p:pic>
        <p:nvPicPr>
          <p:cNvPr id="9" name="Picture 8">
            <a:extLst>
              <a:ext uri="{FF2B5EF4-FFF2-40B4-BE49-F238E27FC236}">
                <a16:creationId xmlns:a16="http://schemas.microsoft.com/office/drawing/2014/main" id="{B950B0A9-6A26-2FFF-4847-740C3B75D5EA}"/>
              </a:ext>
            </a:extLst>
          </p:cNvPr>
          <p:cNvPicPr>
            <a:picLocks noChangeAspect="1"/>
          </p:cNvPicPr>
          <p:nvPr/>
        </p:nvPicPr>
        <p:blipFill>
          <a:blip r:embed="rId3">
            <a:extLst>
              <a:ext uri="{28A0092B-C50C-407E-A947-70E740481C1C}">
                <a14:useLocalDpi xmlns:a14="http://schemas.microsoft.com/office/drawing/2010/main" val="0"/>
              </a:ext>
            </a:extLst>
          </a:blip>
          <a:srcRect l="1631" r="27750"/>
          <a:stretch>
            <a:fillRect/>
          </a:stretch>
        </p:blipFill>
        <p:spPr>
          <a:xfrm>
            <a:off x="5393094" y="681136"/>
            <a:ext cx="6798906" cy="5952930"/>
          </a:xfrm>
          <a:prstGeom prst="rect">
            <a:avLst/>
          </a:prstGeom>
        </p:spPr>
      </p:pic>
    </p:spTree>
    <p:extLst>
      <p:ext uri="{BB962C8B-B14F-4D97-AF65-F5344CB8AC3E}">
        <p14:creationId xmlns:p14="http://schemas.microsoft.com/office/powerpoint/2010/main" val="356029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126AC-FED1-09EB-C6E3-0239900B18E3}"/>
              </a:ext>
            </a:extLst>
          </p:cNvPr>
          <p:cNvSpPr>
            <a:spLocks noGrp="1"/>
          </p:cNvSpPr>
          <p:nvPr>
            <p:ph type="title"/>
          </p:nvPr>
        </p:nvSpPr>
        <p:spPr/>
        <p:txBody>
          <a:bodyPr/>
          <a:lstStyle/>
          <a:p>
            <a:br>
              <a:rPr lang="en-IN" dirty="0"/>
            </a:br>
            <a:endParaRPr lang="en-IN" dirty="0"/>
          </a:p>
        </p:txBody>
      </p:sp>
      <p:pic>
        <p:nvPicPr>
          <p:cNvPr id="5" name="Content Placeholder 4">
            <a:extLst>
              <a:ext uri="{FF2B5EF4-FFF2-40B4-BE49-F238E27FC236}">
                <a16:creationId xmlns:a16="http://schemas.microsoft.com/office/drawing/2014/main" id="{071B09C8-E6E4-DFAE-DED1-3E7C8595F08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p:pic>
      <p:pic>
        <p:nvPicPr>
          <p:cNvPr id="7" name="Picture 6">
            <a:extLst>
              <a:ext uri="{FF2B5EF4-FFF2-40B4-BE49-F238E27FC236}">
                <a16:creationId xmlns:a16="http://schemas.microsoft.com/office/drawing/2014/main" id="{B5BFA1D4-86C5-F37A-CE7B-D00DEDD3246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241792"/>
            <a:ext cx="6680719" cy="3802956"/>
          </a:xfrm>
          <a:prstGeom prst="rect">
            <a:avLst/>
          </a:prstGeom>
        </p:spPr>
      </p:pic>
      <p:pic>
        <p:nvPicPr>
          <p:cNvPr id="9" name="Picture 8">
            <a:extLst>
              <a:ext uri="{FF2B5EF4-FFF2-40B4-BE49-F238E27FC236}">
                <a16:creationId xmlns:a16="http://schemas.microsoft.com/office/drawing/2014/main" id="{BA2E139D-4E0B-FEB7-C6F2-F24B9162BC4C}"/>
              </a:ext>
            </a:extLst>
          </p:cNvPr>
          <p:cNvPicPr>
            <a:picLocks noChangeAspect="1"/>
          </p:cNvPicPr>
          <p:nvPr/>
        </p:nvPicPr>
        <p:blipFill>
          <a:blip r:embed="rId3">
            <a:extLst>
              <a:ext uri="{28A0092B-C50C-407E-A947-70E740481C1C}">
                <a14:useLocalDpi xmlns:a14="http://schemas.microsoft.com/office/drawing/2010/main" val="0"/>
              </a:ext>
            </a:extLst>
          </a:blip>
          <a:srcRect l="6513" r="11941"/>
          <a:stretch>
            <a:fillRect/>
          </a:stretch>
        </p:blipFill>
        <p:spPr>
          <a:xfrm>
            <a:off x="6351036" y="1019558"/>
            <a:ext cx="5840964" cy="5658640"/>
          </a:xfrm>
          <a:prstGeom prst="rect">
            <a:avLst/>
          </a:prstGeom>
        </p:spPr>
      </p:pic>
    </p:spTree>
    <p:extLst>
      <p:ext uri="{BB962C8B-B14F-4D97-AF65-F5344CB8AC3E}">
        <p14:creationId xmlns:p14="http://schemas.microsoft.com/office/powerpoint/2010/main" val="39132922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396BB-D4E8-514D-53F4-27AADA666CBB}"/>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dirty="0">
                <a:latin typeface="Arial"/>
                <a:cs typeface="Arial"/>
              </a:rPr>
              <a:t>Conclusion:</a:t>
            </a:r>
            <a:endParaRPr lang="en-US" sz="4000" dirty="0"/>
          </a:p>
        </p:txBody>
      </p:sp>
      <p:sp>
        <p:nvSpPr>
          <p:cNvPr id="3" name="Content Placeholder 2">
            <a:extLst>
              <a:ext uri="{FF2B5EF4-FFF2-40B4-BE49-F238E27FC236}">
                <a16:creationId xmlns:a16="http://schemas.microsoft.com/office/drawing/2014/main" id="{21789DDB-698E-B624-5621-F9D79482FFED}"/>
              </a:ext>
            </a:extLst>
          </p:cNvPr>
          <p:cNvSpPr>
            <a:spLocks noGrp="1"/>
          </p:cNvSpPr>
          <p:nvPr>
            <p:ph idx="1"/>
          </p:nvPr>
        </p:nvSpPr>
        <p:spPr>
          <a:xfrm>
            <a:off x="262589" y="1622391"/>
            <a:ext cx="10515600" cy="4251960"/>
          </a:xfrm>
        </p:spPr>
        <p:txBody>
          <a:bodyPr vert="horz" lIns="91440" tIns="45720" rIns="91440" bIns="45720" rtlCol="0">
            <a:normAutofit/>
          </a:bodyPr>
          <a:lstStyle/>
          <a:p>
            <a:pPr marL="0" indent="0" algn="just">
              <a:buNone/>
            </a:pPr>
            <a:r>
              <a:rPr lang="en-US" sz="1800" dirty="0">
                <a:latin typeface="Arial" panose="020B0604020202020204" pitchFamily="34" charset="0"/>
                <a:cs typeface="Arial" panose="020B0604020202020204" pitchFamily="34" charset="0"/>
              </a:rPr>
              <a:t>The Fake News Detection system was successfully developed using Machine Learning techniques. The system can analyze news text and predict whether the news is </a:t>
            </a:r>
            <a:r>
              <a:rPr lang="en-US" sz="1800" b="1" dirty="0">
                <a:latin typeface="Arial" panose="020B0604020202020204" pitchFamily="34" charset="0"/>
                <a:cs typeface="Arial" panose="020B0604020202020204" pitchFamily="34" charset="0"/>
              </a:rPr>
              <a:t>real or </a:t>
            </a:r>
            <a:r>
              <a:rPr lang="en-US" sz="1800" b="1" dirty="0" err="1">
                <a:latin typeface="Arial" panose="020B0604020202020204" pitchFamily="34" charset="0"/>
                <a:cs typeface="Arial" panose="020B0604020202020204" pitchFamily="34" charset="0"/>
              </a:rPr>
              <a:t>fake</a:t>
            </a:r>
            <a:r>
              <a:rPr lang="en-US" sz="1800" dirty="0" err="1">
                <a:latin typeface="Arial" panose="020B0604020202020204" pitchFamily="34" charset="0"/>
                <a:cs typeface="Arial" panose="020B0604020202020204" pitchFamily="34" charset="0"/>
              </a:rPr>
              <a:t>.The</a:t>
            </a:r>
            <a:r>
              <a:rPr lang="en-US" sz="1800" dirty="0">
                <a:latin typeface="Arial" panose="020B0604020202020204" pitchFamily="34" charset="0"/>
                <a:cs typeface="Arial" panose="020B0604020202020204" pitchFamily="34" charset="0"/>
              </a:rPr>
              <a:t> project shows that machine learning algorithms such as Random Forest can help detect fake news with good accuracy. The system is simple, fast, and easy to </a:t>
            </a:r>
            <a:r>
              <a:rPr lang="en-US" sz="1800" dirty="0" err="1">
                <a:latin typeface="Arial" panose="020B0604020202020204" pitchFamily="34" charset="0"/>
                <a:cs typeface="Arial" panose="020B0604020202020204" pitchFamily="34" charset="0"/>
              </a:rPr>
              <a:t>use.This</a:t>
            </a:r>
            <a:r>
              <a:rPr lang="en-US" sz="1800" dirty="0">
                <a:latin typeface="Arial" panose="020B0604020202020204" pitchFamily="34" charset="0"/>
                <a:cs typeface="Arial" panose="020B0604020202020204" pitchFamily="34" charset="0"/>
              </a:rPr>
              <a:t> project helps users identify fake news and avoid spreading false information. It also saves time compared to manual </a:t>
            </a:r>
            <a:r>
              <a:rPr lang="en-US" sz="1800" dirty="0" err="1">
                <a:latin typeface="Arial" panose="020B0604020202020204" pitchFamily="34" charset="0"/>
                <a:cs typeface="Arial" panose="020B0604020202020204" pitchFamily="34" charset="0"/>
              </a:rPr>
              <a:t>checking.Overall</a:t>
            </a:r>
            <a:r>
              <a:rPr lang="en-US" sz="1800" dirty="0">
                <a:latin typeface="Arial" panose="020B0604020202020204" pitchFamily="34" charset="0"/>
                <a:cs typeface="Arial" panose="020B0604020202020204" pitchFamily="34" charset="0"/>
              </a:rPr>
              <a:t>, the Fake News Detection system is an effective solution for identifying reliable and trustworthy news.</a:t>
            </a:r>
          </a:p>
          <a:p>
            <a:pPr marL="0" indent="0">
              <a:buNone/>
            </a:pPr>
            <a:endParaRPr lang="en-US"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453096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403C0-6D6C-CF0D-D01B-94F3DED1DC7F}"/>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Future scope:</a:t>
            </a:r>
            <a:endParaRPr lang="en-US" sz="4000" dirty="0"/>
          </a:p>
        </p:txBody>
      </p:sp>
      <p:sp>
        <p:nvSpPr>
          <p:cNvPr id="3" name="Content Placeholder 2">
            <a:extLst>
              <a:ext uri="{FF2B5EF4-FFF2-40B4-BE49-F238E27FC236}">
                <a16:creationId xmlns:a16="http://schemas.microsoft.com/office/drawing/2014/main" id="{3F2C79AB-5BF9-3911-CAE8-5E44B0DF2236}"/>
              </a:ext>
            </a:extLst>
          </p:cNvPr>
          <p:cNvSpPr>
            <a:spLocks noGrp="1"/>
          </p:cNvSpPr>
          <p:nvPr>
            <p:ph idx="1"/>
          </p:nvPr>
        </p:nvSpPr>
        <p:spPr>
          <a:xfrm>
            <a:off x="71120" y="1087120"/>
            <a:ext cx="11826240" cy="5943600"/>
          </a:xfrm>
        </p:spPr>
        <p:txBody>
          <a:bodyPr vert="horz" lIns="91440" tIns="45720" rIns="91440" bIns="45720" rtlCol="0">
            <a:noAutofit/>
          </a:bodyPr>
          <a:lstStyle/>
          <a:p>
            <a:pPr marL="0" indent="0">
              <a:spcBef>
                <a:spcPct val="20000"/>
              </a:spcBef>
              <a:spcAft>
                <a:spcPts val="600"/>
              </a:spcAft>
              <a:buNone/>
            </a:pPr>
            <a:endParaRPr lang="en-US" sz="1800" dirty="0">
              <a:latin typeface="Franklin Gothic Book"/>
            </a:endParaRPr>
          </a:p>
          <a:p>
            <a:pPr marL="0" indent="0">
              <a:buNone/>
            </a:pPr>
            <a:r>
              <a:rPr lang="en-US" sz="1800" dirty="0">
                <a:latin typeface="Arial" panose="020B0604020202020204" pitchFamily="34" charset="0"/>
                <a:cs typeface="Arial" panose="020B0604020202020204" pitchFamily="34" charset="0"/>
              </a:rPr>
              <a:t>The Fake News Detection system can be improved in the future by adding more features and advanced technologies.</a:t>
            </a:r>
          </a:p>
          <a:p>
            <a:pPr marL="342900" indent="-342900">
              <a:buFont typeface="+mj-lt"/>
              <a:buAutoNum type="arabicPeriod"/>
            </a:pPr>
            <a:r>
              <a:rPr lang="en-US" sz="1800" b="1" dirty="0">
                <a:latin typeface="Arial" panose="020B0604020202020204" pitchFamily="34" charset="0"/>
                <a:cs typeface="Arial" panose="020B0604020202020204" pitchFamily="34" charset="0"/>
              </a:rPr>
              <a:t> Higher Accuracy </a:t>
            </a: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rPr>
              <a:t>Improve the model by using larger </a:t>
            </a:r>
            <a:r>
              <a:rPr lang="en-US" sz="1800" dirty="0" err="1">
                <a:latin typeface="Arial" panose="020B0604020202020204" pitchFamily="34" charset="0"/>
                <a:cs typeface="Arial" panose="020B0604020202020204" pitchFamily="34" charset="0"/>
              </a:rPr>
              <a:t>datasets.Use</a:t>
            </a:r>
            <a:r>
              <a:rPr lang="en-US" sz="1800" dirty="0">
                <a:latin typeface="Arial" panose="020B0604020202020204" pitchFamily="34" charset="0"/>
                <a:cs typeface="Arial" panose="020B0604020202020204" pitchFamily="34" charset="0"/>
              </a:rPr>
              <a:t> advanced machine learning and deep learning methods.</a:t>
            </a:r>
          </a:p>
          <a:p>
            <a:pPr marL="0" indent="0">
              <a:buNone/>
            </a:pPr>
            <a:r>
              <a:rPr lang="en-US" sz="1800" b="1" dirty="0">
                <a:latin typeface="Arial" panose="020B0604020202020204" pitchFamily="34" charset="0"/>
                <a:cs typeface="Arial" panose="020B0604020202020204" pitchFamily="34" charset="0"/>
              </a:rPr>
              <a:t>2.  Mobile Application </a:t>
            </a: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rPr>
              <a:t>Develop a mobile app so users can check fake news easily.</a:t>
            </a:r>
          </a:p>
          <a:p>
            <a:pPr marL="0" indent="0">
              <a:buNone/>
            </a:pPr>
            <a:r>
              <a:rPr lang="en-US" sz="1800" b="1" dirty="0">
                <a:latin typeface="Arial" panose="020B0604020202020204" pitchFamily="34" charset="0"/>
                <a:cs typeface="Arial" panose="020B0604020202020204" pitchFamily="34" charset="0"/>
              </a:rPr>
              <a:t>3. Website Integration </a:t>
            </a: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rPr>
              <a:t>Create a website where users can paste news and check results online.</a:t>
            </a:r>
          </a:p>
          <a:p>
            <a:pPr marL="0" indent="0">
              <a:buNone/>
            </a:pPr>
            <a:r>
              <a:rPr lang="en-US" sz="1800" b="1" dirty="0">
                <a:latin typeface="Arial" panose="020B0604020202020204" pitchFamily="34" charset="0"/>
                <a:cs typeface="Arial" panose="020B0604020202020204" pitchFamily="34" charset="0"/>
              </a:rPr>
              <a:t>4. Social Media Integration </a:t>
            </a: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rPr>
              <a:t>The system can be connected to platforms like </a:t>
            </a:r>
            <a:r>
              <a:rPr lang="en-US" sz="1800" b="1" dirty="0">
                <a:latin typeface="Arial" panose="020B0604020202020204" pitchFamily="34" charset="0"/>
                <a:cs typeface="Arial" panose="020B0604020202020204" pitchFamily="34" charset="0"/>
              </a:rPr>
              <a:t>Facebook</a:t>
            </a:r>
            <a:r>
              <a:rPr lang="en-US" sz="1800" dirty="0">
                <a:latin typeface="Arial" panose="020B0604020202020204" pitchFamily="34" charset="0"/>
                <a:cs typeface="Arial" panose="020B0604020202020204" pitchFamily="34" charset="0"/>
              </a:rPr>
              <a:t> and </a:t>
            </a:r>
            <a:r>
              <a:rPr lang="en-US" sz="1800" b="1" dirty="0">
                <a:latin typeface="Arial" panose="020B0604020202020204" pitchFamily="34" charset="0"/>
                <a:cs typeface="Arial" panose="020B0604020202020204" pitchFamily="34" charset="0"/>
              </a:rPr>
              <a:t>WhatsApp</a:t>
            </a:r>
            <a:r>
              <a:rPr lang="en-US" sz="1800" dirty="0">
                <a:latin typeface="Arial" panose="020B0604020202020204" pitchFamily="34" charset="0"/>
                <a:cs typeface="Arial" panose="020B0604020202020204" pitchFamily="34" charset="0"/>
              </a:rPr>
              <a:t> to detect fake news automatically.</a:t>
            </a:r>
          </a:p>
          <a:p>
            <a:pPr marL="0" indent="0">
              <a:buNone/>
            </a:pPr>
            <a:r>
              <a:rPr lang="en-US" sz="1800" b="1" dirty="0">
                <a:latin typeface="Arial" panose="020B0604020202020204" pitchFamily="34" charset="0"/>
                <a:cs typeface="Arial" panose="020B0604020202020204" pitchFamily="34" charset="0"/>
              </a:rPr>
              <a:t>5. Real-Time Detection </a:t>
            </a: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rPr>
              <a:t>The system can detect fake news instantly when news is uploaded.</a:t>
            </a:r>
          </a:p>
          <a:p>
            <a:pPr marL="0" indent="0">
              <a:buNone/>
            </a:pPr>
            <a:r>
              <a:rPr lang="en-US" sz="1800" b="1" dirty="0">
                <a:latin typeface="Arial" panose="020B0604020202020204" pitchFamily="34" charset="0"/>
                <a:cs typeface="Arial" panose="020B0604020202020204" pitchFamily="34" charset="0"/>
              </a:rPr>
              <a:t>6.  Multiple Languages </a:t>
            </a:r>
            <a:endParaRPr lang="en-US" sz="1800" dirty="0">
              <a:latin typeface="Arial" panose="020B0604020202020204" pitchFamily="34" charset="0"/>
              <a:cs typeface="Arial" panose="020B0604020202020204" pitchFamily="34" charset="0"/>
            </a:endParaRPr>
          </a:p>
          <a:p>
            <a:pPr marL="0" indent="0">
              <a:buNone/>
            </a:pPr>
            <a:r>
              <a:rPr lang="en-US" sz="1800" dirty="0"/>
              <a:t>Future systems can support multiple languages like English, Hindi, and Marathi.</a:t>
            </a: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44199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D7BEC-26CE-96DB-DC10-B2897FA510E0}"/>
              </a:ext>
            </a:extLst>
          </p:cNvPr>
          <p:cNvSpPr>
            <a:spLocks noGrp="1"/>
          </p:cNvSpPr>
          <p:nvPr>
            <p:ph type="title"/>
          </p:nvPr>
        </p:nvSpPr>
        <p:spPr>
          <a:xfrm>
            <a:off x="-548" y="606334"/>
            <a:ext cx="10515600" cy="1325563"/>
          </a:xfrm>
        </p:spPr>
        <p:txBody>
          <a:bodyPr lIns="91440" tIns="45720" rIns="91440" bIns="45720" anchor="t">
            <a:normAutofit/>
          </a:bodyPr>
          <a:lstStyle/>
          <a:p>
            <a:r>
              <a:rPr lang="en-US" sz="4000" b="1" cap="all">
                <a:latin typeface="Arial"/>
                <a:cs typeface="Arial"/>
              </a:rPr>
              <a:t>References:</a:t>
            </a:r>
            <a:endParaRPr lang="en-US" sz="4000"/>
          </a:p>
        </p:txBody>
      </p:sp>
      <p:sp>
        <p:nvSpPr>
          <p:cNvPr id="3" name="Content Placeholder 2">
            <a:extLst>
              <a:ext uri="{FF2B5EF4-FFF2-40B4-BE49-F238E27FC236}">
                <a16:creationId xmlns:a16="http://schemas.microsoft.com/office/drawing/2014/main" id="{5E6198D1-2392-A218-1A4C-10F40FCB8253}"/>
              </a:ext>
            </a:extLst>
          </p:cNvPr>
          <p:cNvSpPr>
            <a:spLocks noGrp="1"/>
          </p:cNvSpPr>
          <p:nvPr>
            <p:ph idx="1"/>
          </p:nvPr>
        </p:nvSpPr>
        <p:spPr>
          <a:xfrm>
            <a:off x="196804" y="1551125"/>
            <a:ext cx="10515600" cy="4251960"/>
          </a:xfrm>
        </p:spPr>
        <p:txBody>
          <a:bodyPr vert="horz" lIns="91440" tIns="45720" rIns="91440" bIns="45720" rtlCol="0" anchor="t">
            <a:normAutofit/>
          </a:bodyPr>
          <a:lstStyle/>
          <a:p>
            <a:pPr marL="0" indent="0">
              <a:buNone/>
            </a:pPr>
            <a:r>
              <a:rPr lang="en-IN" sz="2200" dirty="0">
                <a:latin typeface="Franklin Gothic Book"/>
              </a:rPr>
              <a:t>List and cite relevant sources, research papers, and articles that were instrumental in developing the proposed solution. This could include academic papers on bike demand prediction, machine learning algorithms, and best practices in data preprocessing and model evaluation.</a:t>
            </a:r>
            <a:endParaRPr lang="en-US" sz="2200" dirty="0">
              <a:latin typeface="Aptos" panose="020B0004020202020204"/>
            </a:endParaRPr>
          </a:p>
          <a:p>
            <a:pPr marL="0" indent="0">
              <a:buNone/>
            </a:pPr>
            <a:r>
              <a:rPr lang="en-IN" sz="2200" dirty="0">
                <a:latin typeface="Franklin Gothic Book"/>
              </a:rPr>
              <a:t>GitHub Link:</a:t>
            </a:r>
            <a:r>
              <a:rPr lang="en-IN" sz="2200" dirty="0">
                <a:solidFill>
                  <a:srgbClr val="0070C0"/>
                </a:solidFill>
                <a:latin typeface="Franklin Gothic Book"/>
              </a:rPr>
              <a:t> https://github.com/Teju290305/Fake-News-Detection</a:t>
            </a:r>
            <a:endParaRPr lang="en-IN" sz="2200" u="sng" dirty="0">
              <a:solidFill>
                <a:srgbClr val="0070C0"/>
              </a:solidFill>
              <a:latin typeface="Franklin Gothic Book"/>
            </a:endParaRPr>
          </a:p>
          <a:p>
            <a:pPr marL="0" indent="0">
              <a:buNone/>
            </a:pPr>
            <a:endParaRPr lang="en-IN" sz="2200" u="sng" dirty="0">
              <a:solidFill>
                <a:srgbClr val="0070C0"/>
              </a:solidFill>
              <a:latin typeface="Franklin Gothic Book"/>
            </a:endParaRPr>
          </a:p>
          <a:p>
            <a:pPr marL="0" indent="0">
              <a:buNone/>
            </a:pPr>
            <a:endParaRPr lang="en-IN" sz="2200" dirty="0">
              <a:latin typeface="Franklin Gothic Book"/>
            </a:endParaRPr>
          </a:p>
        </p:txBody>
      </p:sp>
    </p:spTree>
    <p:extLst>
      <p:ext uri="{BB962C8B-B14F-4D97-AF65-F5344CB8AC3E}">
        <p14:creationId xmlns:p14="http://schemas.microsoft.com/office/powerpoint/2010/main" val="16917006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143E5-DB51-E32C-9252-0ED5EF288497}"/>
            </a:ext>
          </a:extLst>
        </p:cNvPr>
        <p:cNvGrpSpPr/>
        <p:nvPr/>
      </p:nvGrpSpPr>
      <p:grpSpPr>
        <a:xfrm>
          <a:off x="0" y="0"/>
          <a:ext cx="0" cy="0"/>
          <a:chOff x="0" y="0"/>
          <a:chExt cx="0" cy="0"/>
        </a:xfrm>
      </p:grpSpPr>
      <p:sp>
        <p:nvSpPr>
          <p:cNvPr id="7" name="Text Placeholder 4">
            <a:extLst>
              <a:ext uri="{FF2B5EF4-FFF2-40B4-BE49-F238E27FC236}">
                <a16:creationId xmlns:a16="http://schemas.microsoft.com/office/drawing/2014/main" id="{DE97B5AD-3B10-086C-32EF-8A2EAD5287C2}"/>
              </a:ext>
            </a:extLst>
          </p:cNvPr>
          <p:cNvSpPr txBox="1">
            <a:spLocks/>
          </p:cNvSpPr>
          <p:nvPr/>
        </p:nvSpPr>
        <p:spPr>
          <a:xfrm>
            <a:off x="314324" y="6312352"/>
            <a:ext cx="3724275" cy="295275"/>
          </a:xfrm>
          <a:prstGeom prst="rect">
            <a:avLst/>
          </a:prstGeom>
        </p:spPr>
        <p:txBody>
          <a:bodyPr/>
          <a:lstStyle>
            <a:lvl1pPr marL="228611" indent="-228611" algn="l" defTabSz="609630" rtl="0" eaLnBrk="1" latinLnBrk="0" hangingPunct="1">
              <a:spcBef>
                <a:spcPct val="20000"/>
              </a:spcBef>
              <a:buFont typeface="Arial" pitchFamily="34" charset="0"/>
              <a:buChar char="•"/>
              <a:defRPr sz="2133" kern="1200">
                <a:solidFill>
                  <a:schemeClr val="tx1"/>
                </a:solidFill>
                <a:latin typeface="+mn-lt"/>
                <a:ea typeface="+mn-ea"/>
                <a:cs typeface="+mn-cs"/>
              </a:defRPr>
            </a:lvl1pPr>
            <a:lvl2pPr marL="495325" indent="-190510" algn="l" defTabSz="609630" rtl="0" eaLnBrk="1" latinLnBrk="0" hangingPunct="1">
              <a:spcBef>
                <a:spcPct val="20000"/>
              </a:spcBef>
              <a:buFont typeface="Arial" pitchFamily="34" charset="0"/>
              <a:buChar char="–"/>
              <a:defRPr sz="1867" kern="1200">
                <a:solidFill>
                  <a:schemeClr val="tx1"/>
                </a:solidFill>
                <a:latin typeface="+mn-lt"/>
                <a:ea typeface="+mn-ea"/>
                <a:cs typeface="+mn-cs"/>
              </a:defRPr>
            </a:lvl2pPr>
            <a:lvl3pPr marL="762038" indent="-152408" algn="l" defTabSz="609630" rtl="0" eaLnBrk="1" latinLnBrk="0" hangingPunct="1">
              <a:spcBef>
                <a:spcPct val="20000"/>
              </a:spcBef>
              <a:buFont typeface="Arial" pitchFamily="34" charset="0"/>
              <a:buChar char="•"/>
              <a:defRPr sz="1600" kern="1200">
                <a:solidFill>
                  <a:schemeClr val="tx1"/>
                </a:solidFill>
                <a:latin typeface="+mn-lt"/>
                <a:ea typeface="+mn-ea"/>
                <a:cs typeface="+mn-cs"/>
              </a:defRPr>
            </a:lvl3pPr>
            <a:lvl4pPr marL="1066853"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4pPr>
            <a:lvl5pPr marL="137166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5pPr>
            <a:lvl6pPr marL="167648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6pPr>
            <a:lvl7pPr marL="1981299"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7pPr>
            <a:lvl8pPr marL="2286114"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8pPr>
            <a:lvl9pPr marL="2590930" indent="-152408" algn="l" defTabSz="609630" rtl="0" eaLnBrk="1" latinLnBrk="0" hangingPunct="1">
              <a:spcBef>
                <a:spcPct val="20000"/>
              </a:spcBef>
              <a:buFont typeface="Arial" pitchFamily="34" charset="0"/>
              <a:buChar char="•"/>
              <a:defRPr sz="1333" kern="1200">
                <a:solidFill>
                  <a:schemeClr val="tx1"/>
                </a:solidFill>
                <a:latin typeface="+mn-lt"/>
                <a:ea typeface="+mn-ea"/>
                <a:cs typeface="+mn-cs"/>
              </a:defRPr>
            </a:lvl9pPr>
          </a:lstStyle>
          <a:p>
            <a:pPr marL="173736" indent="-173736">
              <a:buFont typeface="Arial" pitchFamily="34" charset="0"/>
              <a:buNone/>
            </a:pPr>
            <a:endParaRPr lang="en-US" sz="1400">
              <a:latin typeface="Arial" panose="020B0604020202020204" pitchFamily="34" charset="0"/>
              <a:cs typeface="Arial" panose="020B0604020202020204" pitchFamily="34" charset="0"/>
            </a:endParaRPr>
          </a:p>
        </p:txBody>
      </p:sp>
      <p:sp>
        <p:nvSpPr>
          <p:cNvPr id="2" name="Title 3">
            <a:extLst>
              <a:ext uri="{FF2B5EF4-FFF2-40B4-BE49-F238E27FC236}">
                <a16:creationId xmlns:a16="http://schemas.microsoft.com/office/drawing/2014/main" id="{AFC7433E-E155-E68D-4C00-FCB38967C6F9}"/>
              </a:ext>
            </a:extLst>
          </p:cNvPr>
          <p:cNvSpPr txBox="1">
            <a:spLocks/>
          </p:cNvSpPr>
          <p:nvPr/>
        </p:nvSpPr>
        <p:spPr>
          <a:xfrm>
            <a:off x="3247621" y="3009471"/>
            <a:ext cx="5696757" cy="839057"/>
          </a:xfrm>
          <a:prstGeom prst="rect">
            <a:avLst/>
          </a:prstGeom>
        </p:spPr>
        <p:txBody>
          <a:bodyPr lIns="91440" tIns="45720" rIns="91440" bIns="45720" anchor="t"/>
          <a:lstStyle>
            <a:lvl1pPr algn="ctr" defTabSz="609630" rtl="0" eaLnBrk="1" latinLnBrk="0" hangingPunct="1">
              <a:spcBef>
                <a:spcPct val="0"/>
              </a:spcBef>
              <a:buNone/>
              <a:defRPr sz="2933" kern="1200">
                <a:solidFill>
                  <a:schemeClr val="tx1"/>
                </a:solidFill>
                <a:latin typeface="+mj-lt"/>
                <a:ea typeface="+mj-ea"/>
                <a:cs typeface="+mj-cs"/>
              </a:defRPr>
            </a:lvl1pPr>
          </a:lstStyle>
          <a:p>
            <a:r>
              <a:rPr lang="en-US" sz="4800" b="1">
                <a:solidFill>
                  <a:srgbClr val="002060"/>
                </a:solidFill>
                <a:latin typeface="Arial"/>
                <a:cs typeface="Arial"/>
              </a:rPr>
              <a:t>Thank You</a:t>
            </a:r>
          </a:p>
        </p:txBody>
      </p:sp>
    </p:spTree>
    <p:custDataLst>
      <p:tags r:id="rId1"/>
    </p:custDataLst>
    <p:extLst>
      <p:ext uri="{BB962C8B-B14F-4D97-AF65-F5344CB8AC3E}">
        <p14:creationId xmlns:p14="http://schemas.microsoft.com/office/powerpoint/2010/main" val="25446020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OFFICE THEME" val="TmdBxN3j"/>
  <p:tag name="ARTICULATE_PROJECT_OPEN" val="0"/>
  <p:tag name="ARTICULATE_SLIDE_COUNT" val="9"/>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310</TotalTime>
  <Words>743</Words>
  <Application>Microsoft Office PowerPoint</Application>
  <PresentationFormat>Widescreen</PresentationFormat>
  <Paragraphs>93</Paragraphs>
  <Slides>13</Slides>
  <Notes>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Aptos</vt:lpstr>
      <vt:lpstr>Arial</vt:lpstr>
      <vt:lpstr>Calibri</vt:lpstr>
      <vt:lpstr>Franklin Gothic Book</vt:lpstr>
      <vt:lpstr>1_Office Theme</vt:lpstr>
      <vt:lpstr>Custom Design</vt:lpstr>
      <vt:lpstr>PowerPoint Presentation</vt:lpstr>
      <vt:lpstr>OUTLINE:</vt:lpstr>
      <vt:lpstr>problem StPatement:</vt:lpstr>
      <vt:lpstr>Proposed Solution:</vt:lpstr>
      <vt:lpstr>System  Approach:</vt:lpstr>
      <vt:lpstr>Algorithm &amp; Deployment:</vt:lpstr>
      <vt:lpstr>Result:</vt:lpstr>
      <vt:lpstr> </vt:lpstr>
      <vt:lpstr> </vt:lpstr>
      <vt:lpstr>Conclusion:</vt:lpstr>
      <vt:lpstr>Future scope:</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Vikrant Nath Nagar</dc:creator>
  <cp:lastModifiedBy>tejaswini lende</cp:lastModifiedBy>
  <cp:revision>103</cp:revision>
  <dcterms:created xsi:type="dcterms:W3CDTF">2024-05-21T11:55:07Z</dcterms:created>
  <dcterms:modified xsi:type="dcterms:W3CDTF">2026-02-22T09:53:24Z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8775663C-0243-495A-BCAB-F653BDE41EC7</vt:lpwstr>
  </property>
  <property fmtid="{D5CDD505-2E9C-101B-9397-08002B2CF9AE}" pid="3" name="ArticulatePath">
    <vt:lpwstr>https://edunetfoundationorg-my.sharepoint.com/personal/kaisar_edunetfoundation_org/Documents/Beutified ppt/MSITI/Micro Degree/Content/Module 4 Data Science/PPT/1. Introduction to Data Science</vt:lpwstr>
  </property>
</Properties>
</file>